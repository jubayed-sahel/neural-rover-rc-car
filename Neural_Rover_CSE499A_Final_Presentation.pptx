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Presenter: Jubayed Ahmed Sahel | Target time: 0:30</a:t>
            </a:r>
          </a:p>
          <a:p>
            <a:r>
              <a:t>Introduce the team and the central result: the CSE499A rover platform is complete; face recognition remains the next-stage module.</a:t>
            </a:r>
          </a:p>
          <a:p>
            <a:r>
              <a:t>Use the rover photograph to identify the completed physical platform, then move directly to the problem the system solves.</a:t>
            </a:r>
          </a:p>
          <a:p>
            <a:r>
              <a:t>[Sources]</a:t>
            </a:r>
          </a:p>
          <a:p>
            <a:r>
              <a:t>- IEEE_499A_Report/Neural_Rover_IEEE_499A_Report_Final.pdf</a:t>
            </a:r>
          </a:p>
          <a:p>
            <a:r>
              <a:t>- Project Files/Neural Rover Home Veranda.png (user-supplied project image)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Presenter: Jubayed Ahmed Sahel | Target time: 0:55</a:t>
            </a:r>
          </a:p>
          <a:p>
            <a:r>
              <a:t>Frame the engineering problem as control plus visual awareness plus safety—not simply an RC car.</a:t>
            </a:r>
          </a:p>
          <a:p>
            <a:r>
              <a:t>Use the four verbs as the project acceptance logic.</a:t>
            </a:r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IEEE_499A_Report/Neural_Rover_IEEE_499A_Report_Final.pdf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Presenter: Jubayed Ahmed Sahel | Target time: 1:30</a:t>
            </a:r>
          </a:p>
          <a:p>
            <a:r>
              <a:t>Start at the browser: control commands travel over Wi-Fi and WebSocket to the main ESP32.</a:t>
            </a:r>
          </a:p>
          <a:p>
            <a:r>
              <a:t>The main ESP32 owns motion, pan/tilt, the watchdog, and the fail-safe stop. It sends PWM and direction to the two L298N drivers, which run all four motors.</a:t>
            </a:r>
          </a:p>
          <a:p>
            <a:r>
              <a:t>The ESP32-CAM handles capture and MJPEG streaming. UART2 keeps the two boards coordinated without letting video load block the motor safety loop.</a:t>
            </a:r>
          </a:p>
          <a:p>
            <a:r>
              <a:t>Finish with power: the 3S battery feeds the motor rail; the LM2596 provides regulated 5 V; every module shares common ground.</a:t>
            </a:r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Project Files/Neural Rover Architecture Detailed.png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Presenter: Fahad Hossain Shourov | Target time: 0:55</a:t>
            </a:r>
          </a:p>
          <a:p>
            <a:r>
              <a:t>Name the four physical layers; avoid reading component lists verbatim.</a:t>
            </a:r>
          </a:p>
          <a:p>
            <a:r>
              <a:t>Explain that two motor drivers give four independent reversible channels and the LM2596 isolates the regulated logic rail.</a:t>
            </a:r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RC_CAR_COMPLETE_INFORMATION.md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Presenter: Fahad Hossain Shourov | Target time: 1:05</a:t>
            </a:r>
          </a:p>
          <a:p>
            <a:r>
              <a:t>Explain why USB success alone did not prove vehicle stability: motor startup current and switching noise affect the logic rail.</a:t>
            </a:r>
          </a:p>
          <a:p>
            <a:r>
              <a:t>Call out regulated 5 V, common ground, and the UART crossing between boards.</a:t>
            </a:r>
          </a:p>
          <a:p>
            <a:r>
              <a:t>Handoff: Pujon will cover the control experience and safety firmware.</a:t>
            </a:r>
          </a:p>
          <a:p>
            <a:r>
              <a:t>[Sources]</a:t>
            </a:r>
          </a:p>
          <a:p>
            <a:r>
              <a:t>- RC_CAR_COMPLETE_INFORMATION.md</a:t>
            </a:r>
          </a:p>
          <a:p>
            <a:r>
              <a:t>- Project Files/ESP32-CAM-Connection with hardware.jpeg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Presenter: Pujon Chakraborty | Target time: 1:00</a:t>
            </a:r>
          </a:p>
          <a:p>
            <a:r>
              <a:t>Demonstrate the control logic verbally: hold to move, release to stop, and keepalive while held.</a:t>
            </a:r>
          </a:p>
          <a:p>
            <a:r>
              <a:t>Mention the browser integrates the camera rather than requiring separate control and video pages.</a:t>
            </a:r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RC_CAR_COMPLETE_INFORMATION.md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Presenter: Pujon Chakraborty | Target time: 1:10</a:t>
            </a:r>
          </a:p>
          <a:p>
            <a:r>
              <a:t>Make the safety claim explicit: the browser is only a client; the rover owns the stop decision.</a:t>
            </a:r>
          </a:p>
          <a:p>
            <a:r>
              <a:t>Use the two numeric anchors to explain dead time and stale-command timeout.</a:t>
            </a:r>
          </a:p>
          <a:p>
            <a:r>
              <a:t>Handoff: Anonna will summarize validation and the next phase.</a:t>
            </a:r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IEEE_499A_Report/Neural_Rover_IEEE_499A_Report_Final.pdf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Presenter: Anonna Rahman Spondon | Target time: 1:00</a:t>
            </a:r>
          </a:p>
          <a:p>
            <a:r>
              <a:t>State the boundary confidently and honestly: all embedded rover objectives are complete; face recognition is not presented as finished.</a:t>
            </a:r>
          </a:p>
          <a:p>
            <a:r>
              <a:t>Point out that the completed stream and network architecture already provide the input required by the AI module.</a:t>
            </a:r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RC_CAR_COMPLETE_INFORMATION.md</a:t>
            </a:r>
          </a:p>
          <a:p>
            <a:r>
              <a:t>- IEEE_499A_Report/Neural_Rover_IEEE_499A_Report_Final.pdf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Presenter: Anonna Rahman Spondon | Target time: 1:00</a:t>
            </a:r>
          </a:p>
          <a:p>
            <a:r>
              <a:t>Explain the three-step roadmap: stream ingestion, face enrollment/recognition, then event response.</a:t>
            </a:r>
          </a:p>
          <a:p>
            <a:r>
              <a:t>Treat fall detection and alerts as later extensions, not completed deliverables.</a:t>
            </a:r>
          </a:p>
          <a:p>
            <a:r>
              <a:t>[Sources]</a:t>
            </a:r>
          </a:p>
          <a:p>
            <a:r>
              <a:t>- NEURAL_ROVER.md</a:t>
            </a:r>
          </a:p>
          <a:p>
            <a:r>
              <a:t>- Next plans.txt</a:t>
            </a:r>
          </a:p>
          <a:p>
            <a:r>
              <a:t>- RC_CAR_COMPLETE_INFORMATION.md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Presenter: Anonna Rahman Spondon | Target time: 0:30 + questions</a:t>
            </a:r>
          </a:p>
          <a:p>
            <a:r>
              <a:t>Close by resolving the opening: Neural Rover now combines motion, visual awareness, and local safety in one tested platform.</a:t>
            </a:r>
          </a:p>
          <a:p>
            <a:r>
              <a:t>If a live demo follows, use the sequence shown. Invite questions after the fail-safe stop demonstration.</a:t>
            </a:r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IEEE_499A_Report/Neural_Rover_IEEE_499A_Report_Final.pdf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786636-DBAB-4D8F-A1C9-7A5B0D437E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89656A-2705-4F7D-8370-8DCB11FD4C4D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CSE499A · FINAL PRESENTATION</a:t>
            </a:r>
          </a:p>
        </p:txBody>
      </p:sp>
      <p:sp>
        <p:nvSpPr>
          <p:cNvPr id="3" name="deck-title">
            <a:extLst>
              <a:ext uri="{FF2B5EF4-FFF2-40B4-BE49-F238E27FC236}">
                <a16:creationId xmlns:a16="http://schemas.microsoft.com/office/drawing/2014/main" id="{BD0FC58A-8F71-45F7-BE9B-57DE691FBB63}"/>
              </a:ext>
            </a:extLst>
          </p:cNvPr>
          <p:cNvSpPr>
            <a:spLocks noGrp="1"/>
          </p:cNvSpPr>
          <p:nvPr/>
        </p:nvSpPr>
        <p:spPr>
          <a:xfrm>
            <a:off x="552450" y="1190625"/>
            <a:ext cx="4762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570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Neural</a:t>
            </a:r>
          </a:p>
          <a:p>
            <a:pPr algn="l">
              <a:buNone/>
              <a:defRPr sz="570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Rover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CE96CE-657C-4F5E-9789-1C27FD7D1535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4762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A Wi-Fi-controlled mobile robot with live pan–tilt video and fail-safe motion control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63B96A-E3BD-4FB1-9FA5-AC6F52B16545}"/>
              </a:ext>
            </a:extLst>
          </p:cNvPr>
          <p:cNvSpPr>
            <a:spLocks noGrp="1"/>
          </p:cNvSpPr>
          <p:nvPr/>
        </p:nvSpPr>
        <p:spPr>
          <a:xfrm>
            <a:off x="552450" y="4524375"/>
            <a:ext cx="428625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AE997A-594A-4639-9C09-83A5BDEC1830}"/>
              </a:ext>
            </a:extLst>
          </p:cNvPr>
          <p:cNvSpPr>
            <a:spLocks noGrp="1"/>
          </p:cNvSpPr>
          <p:nvPr/>
        </p:nvSpPr>
        <p:spPr>
          <a:xfrm>
            <a:off x="552450" y="4762500"/>
            <a:ext cx="495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Jubayed Ahmed Sahel  ·  Fahad Hossain Shourov</a:t>
            </a:r>
          </a:p>
          <a:p>
            <a:pPr algn="l">
              <a:buNone/>
              <a:defRPr sz="150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Pujon Chakraborty  ·  Anonna Rahman Spondon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7E7B80-0405-47B9-924D-EAABB59AD507}"/>
              </a:ext>
            </a:extLst>
          </p:cNvPr>
          <p:cNvSpPr>
            <a:spLocks noGrp="1"/>
          </p:cNvSpPr>
          <p:nvPr/>
        </p:nvSpPr>
        <p:spPr>
          <a:xfrm>
            <a:off x="552450" y="581025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North South University  ·  Supervisor: Dr. K. M. A. Salam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10200" y="0"/>
            <a:ext cx="6781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517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1ED236A-E28E-4164-AD7D-AB7D952A577F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WHY NEURAL ROVER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010F5BE-9435-4EC6-A543-A61F64602825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1125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45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Remote inspection needs control and awareness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4E7A6C-24DC-432F-A558-B65C444452A6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11252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85986C-77AD-4D93-8029-7237CB599123}"/>
              </a:ext>
            </a:extLst>
          </p:cNvPr>
          <p:cNvSpPr>
            <a:spLocks noGrp="1"/>
          </p:cNvSpPr>
          <p:nvPr/>
        </p:nvSpPr>
        <p:spPr>
          <a:xfrm>
            <a:off x="533400" y="1857375"/>
            <a:ext cx="5143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A mobile platform is useful only when the operator can move it, see its surroundings, and stop it safely from one place.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5E70FB-B71E-429C-9F45-369DC6D6EAA7}"/>
              </a:ext>
            </a:extLst>
          </p:cNvPr>
          <p:cNvSpPr>
            <a:spLocks noGrp="1"/>
          </p:cNvSpPr>
          <p:nvPr/>
        </p:nvSpPr>
        <p:spPr>
          <a:xfrm>
            <a:off x="6381750" y="1857375"/>
            <a:ext cx="5276850" cy="37147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13363B-2777-4125-8D74-714A6AE30EB8}"/>
              </a:ext>
            </a:extLst>
          </p:cNvPr>
          <p:cNvSpPr>
            <a:spLocks noGrp="1"/>
          </p:cNvSpPr>
          <p:nvPr/>
        </p:nvSpPr>
        <p:spPr>
          <a:xfrm>
            <a:off x="6667500" y="2143125"/>
            <a:ext cx="876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MOVE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628214-7B6C-4D38-AC9A-FF3632DE92B5}"/>
              </a:ext>
            </a:extLst>
          </p:cNvPr>
          <p:cNvSpPr>
            <a:spLocks noGrp="1"/>
          </p:cNvSpPr>
          <p:nvPr/>
        </p:nvSpPr>
        <p:spPr>
          <a:xfrm>
            <a:off x="7715250" y="2124075"/>
            <a:ext cx="3476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7111F"/>
                </a:solidFill>
                <a:latin typeface="Arial"/>
                <a:ea typeface="Arial"/>
                <a:cs typeface="Arial"/>
              </a:rPr>
              <a:t>Four-wheel directional control from a phone or laptop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11B5F9-460D-438F-B005-C29A869B2B9B}"/>
              </a:ext>
            </a:extLst>
          </p:cNvPr>
          <p:cNvSpPr>
            <a:spLocks noGrp="1"/>
          </p:cNvSpPr>
          <p:nvPr/>
        </p:nvSpPr>
        <p:spPr>
          <a:xfrm>
            <a:off x="6667500" y="2695575"/>
            <a:ext cx="4524375" cy="9525"/>
          </a:xfrm>
          <a:prstGeom prst="rect">
            <a:avLst/>
          </a:prstGeom>
          <a:solidFill>
            <a:srgbClr val="C8DCE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32339F-208B-464F-BAF0-3CD7E1BBAACA}"/>
              </a:ext>
            </a:extLst>
          </p:cNvPr>
          <p:cNvSpPr>
            <a:spLocks noGrp="1"/>
          </p:cNvSpPr>
          <p:nvPr/>
        </p:nvSpPr>
        <p:spPr>
          <a:xfrm>
            <a:off x="6667500" y="2952750"/>
            <a:ext cx="876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05B5A-02E2-43F7-925D-05DB5D4E52E7}"/>
              </a:ext>
            </a:extLst>
          </p:cNvPr>
          <p:cNvSpPr>
            <a:spLocks noGrp="1"/>
          </p:cNvSpPr>
          <p:nvPr/>
        </p:nvSpPr>
        <p:spPr>
          <a:xfrm>
            <a:off x="7715250" y="2933700"/>
            <a:ext cx="3476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7111F"/>
                </a:solidFill>
                <a:latin typeface="Arial"/>
                <a:ea typeface="Arial"/>
                <a:cs typeface="Arial"/>
              </a:rPr>
              <a:t>Live camera stream embedded in the same browser interface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88242E-AE38-497F-904A-81CA905A7B91}"/>
              </a:ext>
            </a:extLst>
          </p:cNvPr>
          <p:cNvSpPr>
            <a:spLocks noGrp="1"/>
          </p:cNvSpPr>
          <p:nvPr/>
        </p:nvSpPr>
        <p:spPr>
          <a:xfrm>
            <a:off x="6667500" y="3505200"/>
            <a:ext cx="4524375" cy="9525"/>
          </a:xfrm>
          <a:prstGeom prst="rect">
            <a:avLst/>
          </a:prstGeom>
          <a:solidFill>
            <a:srgbClr val="C8DCEA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97F02D-A08D-4F28-B00E-3DCA5FFE5540}"/>
              </a:ext>
            </a:extLst>
          </p:cNvPr>
          <p:cNvSpPr>
            <a:spLocks noGrp="1"/>
          </p:cNvSpPr>
          <p:nvPr/>
        </p:nvSpPr>
        <p:spPr>
          <a:xfrm>
            <a:off x="6667500" y="3762375"/>
            <a:ext cx="876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5FB412-BB9D-4819-BA3A-DD53D7D3B343}"/>
              </a:ext>
            </a:extLst>
          </p:cNvPr>
          <p:cNvSpPr>
            <a:spLocks noGrp="1"/>
          </p:cNvSpPr>
          <p:nvPr/>
        </p:nvSpPr>
        <p:spPr>
          <a:xfrm>
            <a:off x="7715250" y="3743325"/>
            <a:ext cx="3476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7111F"/>
                </a:solidFill>
                <a:latin typeface="Arial"/>
                <a:ea typeface="Arial"/>
                <a:cs typeface="Arial"/>
              </a:rPr>
              <a:t>Independent pan, tilt, and illumination control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DE9FD0-8CC5-424A-97EA-49A652BB3513}"/>
              </a:ext>
            </a:extLst>
          </p:cNvPr>
          <p:cNvSpPr>
            <a:spLocks noGrp="1"/>
          </p:cNvSpPr>
          <p:nvPr/>
        </p:nvSpPr>
        <p:spPr>
          <a:xfrm>
            <a:off x="6667500" y="4314825"/>
            <a:ext cx="4524375" cy="9525"/>
          </a:xfrm>
          <a:prstGeom prst="rect">
            <a:avLst/>
          </a:prstGeom>
          <a:solidFill>
            <a:srgbClr val="C8DCEA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5A160D-2099-4A42-8D3A-79575022AA29}"/>
              </a:ext>
            </a:extLst>
          </p:cNvPr>
          <p:cNvSpPr>
            <a:spLocks noGrp="1"/>
          </p:cNvSpPr>
          <p:nvPr/>
        </p:nvSpPr>
        <p:spPr>
          <a:xfrm>
            <a:off x="6667500" y="4572000"/>
            <a:ext cx="876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F05A6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5A67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3E0FA8-75E8-40C6-8F28-A26DBC549EEF}"/>
              </a:ext>
            </a:extLst>
          </p:cNvPr>
          <p:cNvSpPr>
            <a:spLocks noGrp="1"/>
          </p:cNvSpPr>
          <p:nvPr/>
        </p:nvSpPr>
        <p:spPr>
          <a:xfrm>
            <a:off x="7715250" y="4552950"/>
            <a:ext cx="3476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7111F"/>
                </a:solidFill>
                <a:latin typeface="Arial"/>
                <a:ea typeface="Arial"/>
                <a:cs typeface="Arial"/>
              </a:rPr>
              <a:t>Local fail-safe response when communication disappears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901038-CFA9-444A-B062-5B0A556CA3C9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7"/>
                </a:solidFill>
                <a:latin typeface="Arial"/>
                <a:ea typeface="Arial"/>
                <a:cs typeface="Arial"/>
              </a:rPr>
              <a:t>LEAD PRESENTER  ·  Jubayed Ahmed Sahel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AB54A5-EFD5-41CA-86E7-C89677910AB3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3498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13A119-6770-4BFC-8456-AEA44B1311BD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9F1AED8-FB15-4FCA-9A64-FF4AF79F3909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1125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45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How every module connects across the rover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5C66AB-1C80-413F-917B-22243FC4C210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11252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A65E5D-E138-4AFF-9882-506E5AEBEE9B}"/>
              </a:ext>
            </a:extLst>
          </p:cNvPr>
          <p:cNvSpPr>
            <a:spLocks noGrp="1"/>
          </p:cNvSpPr>
          <p:nvPr/>
        </p:nvSpPr>
        <p:spPr>
          <a:xfrm>
            <a:off x="704850" y="592455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Main ESP32 controls motion and safety; ESP32-CAM streams video; one power system connects both.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703965-3C9A-42A6-A2F3-554F2CE3063F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7"/>
                </a:solidFill>
                <a:latin typeface="Arial"/>
                <a:ea typeface="Arial"/>
                <a:cs typeface="Arial"/>
              </a:rPr>
              <a:t>LEAD PRESENTER  ·  Jubayed Ahmed Sahel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3F6261-3A94-42C1-9D43-F3414CDEF8BC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operator">
            <a:extLst>
              <a:ext uri="{FF2B5EF4-FFF2-40B4-BE49-F238E27FC236}">
                <a16:creationId xmlns:a16="http://schemas.microsoft.com/office/drawing/2014/main" id="{AC657FFD-0E11-4F48-8643-DB5F342D9717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1619250" cy="1285875"/>
          </a:xfrm>
          <a:prstGeom prst="roundRect">
            <a:avLst>
              <a:gd name="adj" fmla="val 10370"/>
            </a:avLst>
          </a:prstGeom>
          <a:solidFill>
            <a:srgbClr val="F5EFFF"/>
          </a:solidFill>
          <a:ln w="19050">
            <a:solidFill>
              <a:srgbClr val="9A5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95250" tIns="95250" rIns="95250" bIns="76200" anchor="ctr">
            <a:normAutofit/>
          </a:bodyPr>
          <a:lstStyle/>
          <a:p>
            <a:pPr algn="ctr">
              <a:spcAft>
                <a:spcPts val="5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BROWSER / PHONE</a:t>
            </a:r>
          </a:p>
          <a:p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7"/>
                </a:solidFill>
                <a:latin typeface="Arial"/>
                <a:ea typeface="Arial"/>
                <a:cs typeface="Arial"/>
              </a:rPr>
              <a:t>Drive commands
Live video
Camera aim</a:t>
            </a:r>
          </a:p>
        </p:txBody>
      </p:sp>
      <p:sp>
        <p:nvSpPr>
          <p:cNvPr id="10" name="main-esp32">
            <a:extLst>
              <a:ext uri="{FF2B5EF4-FFF2-40B4-BE49-F238E27FC236}">
                <a16:creationId xmlns:a16="http://schemas.microsoft.com/office/drawing/2014/main" id="{DBB066FE-C463-47AD-BC24-8B0C843923A8}"/>
              </a:ext>
            </a:extLst>
          </p:cNvPr>
          <p:cNvSpPr>
            <a:spLocks noGrp="1"/>
          </p:cNvSpPr>
          <p:nvPr/>
        </p:nvSpPr>
        <p:spPr>
          <a:xfrm>
            <a:off x="3143250" y="2000250"/>
            <a:ext cx="1809750" cy="1095375"/>
          </a:xfrm>
          <a:prstGeom prst="roundRect">
            <a:avLst>
              <a:gd name="adj" fmla="val 12174"/>
            </a:avLst>
          </a:prstGeom>
          <a:solidFill>
            <a:srgbClr val="EDF6FF"/>
          </a:solidFill>
          <a:ln w="19050">
            <a:solidFill>
              <a:srgbClr val="3D8D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95250" tIns="95250" rIns="95250" bIns="76200" anchor="ctr">
            <a:normAutofit/>
          </a:bodyPr>
          <a:lstStyle/>
          <a:p>
            <a:pPr algn="ctr">
              <a:spcAft>
                <a:spcPts val="5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MAIN ESP32</a:t>
            </a:r>
          </a:p>
          <a:p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7"/>
                </a:solidFill>
                <a:latin typeface="Arial"/>
                <a:ea typeface="Arial"/>
                <a:cs typeface="Arial"/>
              </a:rPr>
              <a:t>Web server + WebSocket
PWM / direction
Watchdog + fail-safe</a:t>
            </a:r>
          </a:p>
        </p:txBody>
      </p:sp>
      <p:sp>
        <p:nvSpPr>
          <p:cNvPr id="11" name="esp32-cam">
            <a:extLst>
              <a:ext uri="{FF2B5EF4-FFF2-40B4-BE49-F238E27FC236}">
                <a16:creationId xmlns:a16="http://schemas.microsoft.com/office/drawing/2014/main" id="{665FD809-4CE2-40D0-9F14-D65F957CF67F}"/>
              </a:ext>
            </a:extLst>
          </p:cNvPr>
          <p:cNvSpPr>
            <a:spLocks noGrp="1"/>
          </p:cNvSpPr>
          <p:nvPr/>
        </p:nvSpPr>
        <p:spPr>
          <a:xfrm>
            <a:off x="3143250" y="3857625"/>
            <a:ext cx="1809750" cy="1000125"/>
          </a:xfrm>
          <a:prstGeom prst="roundRect">
            <a:avLst>
              <a:gd name="adj" fmla="val 13333"/>
            </a:avLst>
          </a:prstGeom>
          <a:solidFill>
            <a:srgbClr val="EDF6FF"/>
          </a:solidFill>
          <a:ln w="19050">
            <a:solidFill>
              <a:srgbClr val="0F9ED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95250" tIns="95250" rIns="95250" bIns="76200" anchor="ctr">
            <a:normAutofit/>
          </a:bodyPr>
          <a:lstStyle/>
          <a:p>
            <a:pPr algn="ctr">
              <a:spcAft>
                <a:spcPts val="5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ESP32-CAM</a:t>
            </a:r>
          </a:p>
          <a:p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7"/>
                </a:solidFill>
                <a:latin typeface="Arial"/>
                <a:ea typeface="Arial"/>
                <a:cs typeface="Arial"/>
              </a:rPr>
              <a:t>Camera capture
MJPEG stream
Flash LED</a:t>
            </a:r>
          </a:p>
        </p:txBody>
      </p:sp>
      <p:sp>
        <p:nvSpPr>
          <p:cNvPr id="12" name="motor-drivers">
            <a:extLst>
              <a:ext uri="{FF2B5EF4-FFF2-40B4-BE49-F238E27FC236}">
                <a16:creationId xmlns:a16="http://schemas.microsoft.com/office/drawing/2014/main" id="{0BFDF8D3-0368-4121-A6E4-3E26DBE8E074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1714500" cy="1095375"/>
          </a:xfrm>
          <a:prstGeom prst="roundRect">
            <a:avLst>
              <a:gd name="adj" fmla="val 12174"/>
            </a:avLst>
          </a:prstGeom>
          <a:solidFill>
            <a:srgbClr val="ECF8F2"/>
          </a:solidFill>
          <a:ln w="19050">
            <a:solidFill>
              <a:srgbClr val="23A36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95250" tIns="95250" rIns="95250" bIns="76200" anchor="ctr">
            <a:normAutofit/>
          </a:bodyPr>
          <a:lstStyle/>
          <a:p>
            <a:pPr algn="ctr">
              <a:spcAft>
                <a:spcPts val="5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2 × L298N</a:t>
            </a:r>
          </a:p>
          <a:p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7"/>
                </a:solidFill>
                <a:latin typeface="Arial"/>
                <a:ea typeface="Arial"/>
                <a:cs typeface="Arial"/>
              </a:rPr>
              <a:t>Left + right channels
Four motor outputs</a:t>
            </a:r>
          </a:p>
        </p:txBody>
      </p:sp>
      <p:sp>
        <p:nvSpPr>
          <p:cNvPr id="13" name="servo-control">
            <a:extLst>
              <a:ext uri="{FF2B5EF4-FFF2-40B4-BE49-F238E27FC236}">
                <a16:creationId xmlns:a16="http://schemas.microsoft.com/office/drawing/2014/main" id="{B79CA443-3D41-4BB8-A9E5-60F5CDA880FA}"/>
              </a:ext>
            </a:extLst>
          </p:cNvPr>
          <p:cNvSpPr>
            <a:spLocks noGrp="1"/>
          </p:cNvSpPr>
          <p:nvPr/>
        </p:nvSpPr>
        <p:spPr>
          <a:xfrm>
            <a:off x="6096000" y="3857625"/>
            <a:ext cx="1714500" cy="1000125"/>
          </a:xfrm>
          <a:prstGeom prst="roundRect">
            <a:avLst>
              <a:gd name="adj" fmla="val 13333"/>
            </a:avLst>
          </a:prstGeom>
          <a:solidFill>
            <a:srgbClr val="ECF8F2"/>
          </a:solidFill>
          <a:ln w="19050">
            <a:solidFill>
              <a:srgbClr val="23A36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95250" tIns="95250" rIns="95250" bIns="76200" anchor="ctr">
            <a:normAutofit/>
          </a:bodyPr>
          <a:lstStyle/>
          <a:p>
            <a:pPr algn="ctr">
              <a:spcAft>
                <a:spcPts val="5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PAN / TILT</a:t>
            </a:r>
          </a:p>
          <a:p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7"/>
                </a:solidFill>
                <a:latin typeface="Arial"/>
                <a:ea typeface="Arial"/>
                <a:cs typeface="Arial"/>
              </a:rPr>
              <a:t>Two SG90 servos
GPIO 13 + GPIO 4</a:t>
            </a:r>
          </a:p>
        </p:txBody>
      </p:sp>
      <p:sp>
        <p:nvSpPr>
          <p:cNvPr id="14" name="drive-motors">
            <a:extLst>
              <a:ext uri="{FF2B5EF4-FFF2-40B4-BE49-F238E27FC236}">
                <a16:creationId xmlns:a16="http://schemas.microsoft.com/office/drawing/2014/main" id="{FC6BCC88-4ABA-4970-BD3E-7877EFAECB92}"/>
              </a:ext>
            </a:extLst>
          </p:cNvPr>
          <p:cNvSpPr>
            <a:spLocks noGrp="1"/>
          </p:cNvSpPr>
          <p:nvPr/>
        </p:nvSpPr>
        <p:spPr>
          <a:xfrm>
            <a:off x="9048750" y="2000250"/>
            <a:ext cx="1714500" cy="1095375"/>
          </a:xfrm>
          <a:prstGeom prst="roundRect">
            <a:avLst>
              <a:gd name="adj" fmla="val 12174"/>
            </a:avLst>
          </a:prstGeom>
          <a:solidFill>
            <a:srgbClr val="ECF8F2"/>
          </a:solidFill>
          <a:ln w="19050">
            <a:solidFill>
              <a:srgbClr val="23A36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95250" tIns="95250" rIns="95250" bIns="76200" anchor="ctr">
            <a:normAutofit/>
          </a:bodyPr>
          <a:lstStyle/>
          <a:p>
            <a:pPr algn="ctr">
              <a:spcAft>
                <a:spcPts val="5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4 DC MOTORS</a:t>
            </a:r>
          </a:p>
          <a:p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7"/>
                </a:solidFill>
                <a:latin typeface="Arial"/>
                <a:ea typeface="Arial"/>
                <a:cs typeface="Arial"/>
              </a:rPr>
              <a:t>Front + rear
Left + right drive</a:t>
            </a:r>
          </a:p>
        </p:txBody>
      </p:sp>
      <p:sp>
        <p:nvSpPr>
          <p:cNvPr id="15" name="camera-aim">
            <a:extLst>
              <a:ext uri="{FF2B5EF4-FFF2-40B4-BE49-F238E27FC236}">
                <a16:creationId xmlns:a16="http://schemas.microsoft.com/office/drawing/2014/main" id="{FC69BAD2-76F6-4A45-BB89-F9D9512A356C}"/>
              </a:ext>
            </a:extLst>
          </p:cNvPr>
          <p:cNvSpPr>
            <a:spLocks noGrp="1"/>
          </p:cNvSpPr>
          <p:nvPr/>
        </p:nvSpPr>
        <p:spPr>
          <a:xfrm>
            <a:off x="9048750" y="3857625"/>
            <a:ext cx="1714500" cy="1000125"/>
          </a:xfrm>
          <a:prstGeom prst="roundRect">
            <a:avLst>
              <a:gd name="adj" fmla="val 13333"/>
            </a:avLst>
          </a:prstGeom>
          <a:solidFill>
            <a:srgbClr val="ECF8F2"/>
          </a:solidFill>
          <a:ln w="19050">
            <a:solidFill>
              <a:srgbClr val="23A36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95250" tIns="95250" rIns="95250" bIns="76200" anchor="ctr">
            <a:normAutofit/>
          </a:bodyPr>
          <a:lstStyle/>
          <a:p>
            <a:pPr algn="ctr">
              <a:spcAft>
                <a:spcPts val="5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CAMERA AIM</a:t>
            </a:r>
          </a:p>
          <a:p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7"/>
                </a:solidFill>
                <a:latin typeface="Arial"/>
                <a:ea typeface="Arial"/>
                <a:cs typeface="Arial"/>
              </a:rPr>
              <a:t>Pan 0–180°
Tilt 0–180°</a:t>
            </a:r>
          </a:p>
        </p:txBody>
      </p:sp>
      <p:cxnSp>
        <p:nvCxnSpPr>
          <p:cNvPr id="86" name="Straight Arrow Connector 85"/>
          <p:cNvCxnSpPr>
            <a:stCxn id="9" idx="3"/>
            <a:endCxn id="10" idx="1"/>
          </p:cNvCxnSpPr>
          <p:nvPr/>
        </p:nvCxnSpPr>
        <p:spPr>
          <a:xfrm flipV="1">
            <a:off x="2286000" y="2547938"/>
            <a:ext cx="857250" cy="714375"/>
          </a:xfrm>
          <a:prstGeom prst="straightConnector1">
            <a:avLst/>
          </a:prstGeom>
          <a:ln w="28575">
            <a:solidFill>
              <a:srgbClr val="9A5CFF"/>
            </a:solidFill>
            <a:prstDash val="solid"/>
            <a:tailEnd type="triangle" w="sm" len="sm"/>
          </a:ln>
        </p:spPr>
      </p:cxnSp>
      <p:cxnSp>
        <p:nvCxnSpPr>
          <p:cNvPr id="87" name="Connector: Elbow 86"/>
          <p:cNvCxnSpPr>
            <a:stCxn id="11" idx="1"/>
            <a:endCxn id="9" idx="3"/>
          </p:cNvCxnSpPr>
          <p:nvPr/>
        </p:nvCxnSpPr>
        <p:spPr>
          <a:xfrm flipH="1" flipV="1">
            <a:off x="2286000" y="3262313"/>
            <a:ext cx="857250" cy="1095375"/>
          </a:xfrm>
          <a:prstGeom prst="bentConnector3">
            <a:avLst>
              <a:gd name="adj1" fmla="val 50000"/>
            </a:avLst>
          </a:prstGeom>
          <a:ln w="28575">
            <a:solidFill>
              <a:srgbClr val="0F9ED5"/>
            </a:solidFill>
            <a:prstDash val="solid"/>
            <a:tailEnd type="triangle" w="sm" len="sm"/>
          </a:ln>
        </p:spPr>
      </p:cxnSp>
      <p:cxnSp>
        <p:nvCxnSpPr>
          <p:cNvPr id="88" name="Straight Arrow Connector 87"/>
          <p:cNvCxnSpPr>
            <a:stCxn id="10" idx="2"/>
            <a:endCxn id="11" idx="0"/>
          </p:cNvCxnSpPr>
          <p:nvPr/>
        </p:nvCxnSpPr>
        <p:spPr>
          <a:xfrm>
            <a:off x="4048125" y="3095625"/>
            <a:ext cx="0" cy="762000"/>
          </a:xfrm>
          <a:prstGeom prst="straightConnector1">
            <a:avLst/>
          </a:prstGeom>
          <a:ln w="19050">
            <a:solidFill>
              <a:srgbClr val="0F9ED5"/>
            </a:solidFill>
            <a:prstDash val="dash"/>
            <a:headEnd type="arrow" w="sm" len="sm"/>
            <a:tailEnd type="arrow" w="sm" len="sm"/>
          </a:ln>
        </p:spPr>
      </p:cxnSp>
      <p:cxnSp>
        <p:nvCxnSpPr>
          <p:cNvPr id="89" name="Straight Arrow Connector 88"/>
          <p:cNvCxnSpPr>
            <a:stCxn id="10" idx="3"/>
            <a:endCxn id="12" idx="1"/>
          </p:cNvCxnSpPr>
          <p:nvPr/>
        </p:nvCxnSpPr>
        <p:spPr>
          <a:xfrm>
            <a:off x="4953000" y="2547938"/>
            <a:ext cx="1143000" cy="0"/>
          </a:xfrm>
          <a:prstGeom prst="straightConnector1">
            <a:avLst/>
          </a:prstGeom>
          <a:ln w="28575">
            <a:solidFill>
              <a:srgbClr val="23A36D"/>
            </a:solidFill>
            <a:prstDash val="solid"/>
            <a:tailEnd type="triangle" w="sm" len="sm"/>
          </a:ln>
        </p:spPr>
      </p:cxnSp>
      <p:cxnSp>
        <p:nvCxnSpPr>
          <p:cNvPr id="90" name="Straight Arrow Connector 89"/>
          <p:cNvCxnSpPr>
            <a:stCxn id="12" idx="3"/>
            <a:endCxn id="14" idx="1"/>
          </p:cNvCxnSpPr>
          <p:nvPr/>
        </p:nvCxnSpPr>
        <p:spPr>
          <a:xfrm>
            <a:off x="7810500" y="2547938"/>
            <a:ext cx="1238250" cy="0"/>
          </a:xfrm>
          <a:prstGeom prst="straightConnector1">
            <a:avLst/>
          </a:prstGeom>
          <a:ln w="28575">
            <a:solidFill>
              <a:srgbClr val="23A36D"/>
            </a:solidFill>
            <a:prstDash val="solid"/>
            <a:tailEnd type="triangle" w="sm" len="sm"/>
          </a:ln>
        </p:spPr>
      </p:cxnSp>
      <p:cxnSp>
        <p:nvCxnSpPr>
          <p:cNvPr id="91" name="Connector: Elbow 90"/>
          <p:cNvCxnSpPr>
            <a:stCxn id="10" idx="3"/>
            <a:endCxn id="13" idx="1"/>
          </p:cNvCxnSpPr>
          <p:nvPr/>
        </p:nvCxnSpPr>
        <p:spPr>
          <a:xfrm>
            <a:off x="4953000" y="2547938"/>
            <a:ext cx="1143000" cy="1809750"/>
          </a:xfrm>
          <a:prstGeom prst="bentConnector3">
            <a:avLst>
              <a:gd name="adj1" fmla="val 50000"/>
            </a:avLst>
          </a:prstGeom>
          <a:ln w="28575">
            <a:solidFill>
              <a:srgbClr val="23A36D"/>
            </a:solidFill>
            <a:prstDash val="solid"/>
            <a:tailEnd type="triangle" w="sm" len="sm"/>
          </a:ln>
        </p:spPr>
      </p:cxnSp>
      <p:cxnSp>
        <p:nvCxnSpPr>
          <p:cNvPr id="92" name="Straight Arrow Connector 91"/>
          <p:cNvCxnSpPr>
            <a:stCxn id="13" idx="3"/>
            <a:endCxn id="15" idx="1"/>
          </p:cNvCxnSpPr>
          <p:nvPr/>
        </p:nvCxnSpPr>
        <p:spPr>
          <a:xfrm>
            <a:off x="7810500" y="4357688"/>
            <a:ext cx="1238250" cy="0"/>
          </a:xfrm>
          <a:prstGeom prst="straightConnector1">
            <a:avLst/>
          </a:prstGeom>
          <a:ln w="28575">
            <a:solidFill>
              <a:srgbClr val="23A36D"/>
            </a:solidFill>
            <a:prstDash val="solid"/>
            <a:tailEnd type="triangle" w="sm" len="sm"/>
          </a:ln>
        </p:spPr>
      </p:cxnSp>
      <p:sp>
        <p:nvSpPr>
          <p:cNvPr id="23" name="operator-group">
            <a:extLst>
              <a:ext uri="{FF2B5EF4-FFF2-40B4-BE49-F238E27FC236}">
                <a16:creationId xmlns:a16="http://schemas.microsoft.com/office/drawing/2014/main" id="{FC5FF23A-0213-4DCC-9333-AC7C05835902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975" b="1">
                <a:solidFill>
                  <a:srgbClr val="9A5C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5CFF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24" name="processing-group">
            <a:extLst>
              <a:ext uri="{FF2B5EF4-FFF2-40B4-BE49-F238E27FC236}">
                <a16:creationId xmlns:a16="http://schemas.microsoft.com/office/drawing/2014/main" id="{2AE34779-8901-4B9D-AF84-089825D0A45F}"/>
              </a:ext>
            </a:extLst>
          </p:cNvPr>
          <p:cNvSpPr>
            <a:spLocks noGrp="1"/>
          </p:cNvSpPr>
          <p:nvPr/>
        </p:nvSpPr>
        <p:spPr>
          <a:xfrm>
            <a:off x="3143250" y="17145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25" name="actuation-group">
            <a:extLst>
              <a:ext uri="{FF2B5EF4-FFF2-40B4-BE49-F238E27FC236}">
                <a16:creationId xmlns:a16="http://schemas.microsoft.com/office/drawing/2014/main" id="{C16FA703-3F7E-430E-8C33-46487398001A}"/>
              </a:ext>
            </a:extLst>
          </p:cNvPr>
          <p:cNvSpPr>
            <a:spLocks noGrp="1"/>
          </p:cNvSpPr>
          <p:nvPr/>
        </p:nvSpPr>
        <p:spPr>
          <a:xfrm>
            <a:off x="6096000" y="1714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975" b="1">
                <a:solidFill>
                  <a:srgbClr val="23A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A36D"/>
                </a:solidFill>
                <a:latin typeface="Arial"/>
                <a:ea typeface="Arial"/>
                <a:cs typeface="Arial"/>
              </a:rPr>
              <a:t>ACTUATION</a:t>
            </a:r>
          </a:p>
        </p:txBody>
      </p:sp>
      <p:sp>
        <p:nvSpPr>
          <p:cNvPr id="26" name="output-group">
            <a:extLst>
              <a:ext uri="{FF2B5EF4-FFF2-40B4-BE49-F238E27FC236}">
                <a16:creationId xmlns:a16="http://schemas.microsoft.com/office/drawing/2014/main" id="{162EE79C-0D97-4E3E-B0F0-AE6FC769D680}"/>
              </a:ext>
            </a:extLst>
          </p:cNvPr>
          <p:cNvSpPr>
            <a:spLocks noGrp="1"/>
          </p:cNvSpPr>
          <p:nvPr/>
        </p:nvSpPr>
        <p:spPr>
          <a:xfrm>
            <a:off x="9048750" y="1714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975" b="1">
                <a:solidFill>
                  <a:srgbClr val="23A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A36D"/>
                </a:solidFill>
                <a:latin typeface="Arial"/>
                <a:ea typeface="Arial"/>
                <a:cs typeface="Arial"/>
              </a:rPr>
              <a:t>ROVER RESPONSE</a:t>
            </a:r>
          </a:p>
        </p:txBody>
      </p:sp>
      <p:sp>
        <p:nvSpPr>
          <p:cNvPr id="27" name="label-command">
            <a:extLst>
              <a:ext uri="{FF2B5EF4-FFF2-40B4-BE49-F238E27FC236}">
                <a16:creationId xmlns:a16="http://schemas.microsoft.com/office/drawing/2014/main" id="{E7CEA63D-A607-4821-A6D8-165AE9029DCD}"/>
              </a:ext>
            </a:extLst>
          </p:cNvPr>
          <p:cNvSpPr>
            <a:spLocks noGrp="1"/>
          </p:cNvSpPr>
          <p:nvPr/>
        </p:nvSpPr>
        <p:spPr>
          <a:xfrm>
            <a:off x="2305050" y="2400300"/>
            <a:ext cx="838200" cy="3238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900" b="1">
                <a:solidFill>
                  <a:srgbClr val="9A5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5CFF"/>
                </a:solidFill>
                <a:latin typeface="Arial"/>
                <a:ea typeface="Arial"/>
                <a:cs typeface="Arial"/>
              </a:rPr>
              <a:t>Wi-Fi · WebSocket</a:t>
            </a:r>
          </a:p>
        </p:txBody>
      </p:sp>
      <p:sp>
        <p:nvSpPr>
          <p:cNvPr id="28" name="label-video">
            <a:extLst>
              <a:ext uri="{FF2B5EF4-FFF2-40B4-BE49-F238E27FC236}">
                <a16:creationId xmlns:a16="http://schemas.microsoft.com/office/drawing/2014/main" id="{0E764852-1943-44D5-B4B0-88EFDB154984}"/>
              </a:ext>
            </a:extLst>
          </p:cNvPr>
          <p:cNvSpPr>
            <a:spLocks noGrp="1"/>
          </p:cNvSpPr>
          <p:nvPr/>
        </p:nvSpPr>
        <p:spPr>
          <a:xfrm>
            <a:off x="2305050" y="4114800"/>
            <a:ext cx="800100" cy="2476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900" b="1">
                <a:solidFill>
                  <a:srgbClr val="0F9E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ED5"/>
                </a:solidFill>
                <a:latin typeface="Arial"/>
                <a:ea typeface="Arial"/>
                <a:cs typeface="Arial"/>
              </a:rPr>
              <a:t>MJPEG</a:t>
            </a:r>
          </a:p>
        </p:txBody>
      </p:sp>
      <p:sp>
        <p:nvSpPr>
          <p:cNvPr id="29" name="label-uart">
            <a:extLst>
              <a:ext uri="{FF2B5EF4-FFF2-40B4-BE49-F238E27FC236}">
                <a16:creationId xmlns:a16="http://schemas.microsoft.com/office/drawing/2014/main" id="{157D6623-F44A-4DCE-B753-C13229588957}"/>
              </a:ext>
            </a:extLst>
          </p:cNvPr>
          <p:cNvSpPr>
            <a:spLocks noGrp="1"/>
          </p:cNvSpPr>
          <p:nvPr/>
        </p:nvSpPr>
        <p:spPr>
          <a:xfrm>
            <a:off x="3590925" y="3295650"/>
            <a:ext cx="914400" cy="2476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900" b="1">
                <a:solidFill>
                  <a:srgbClr val="0F9E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ED5"/>
                </a:solidFill>
                <a:latin typeface="Arial"/>
                <a:ea typeface="Arial"/>
                <a:cs typeface="Arial"/>
              </a:rPr>
              <a:t>UART2</a:t>
            </a:r>
          </a:p>
        </p:txBody>
      </p:sp>
      <p:sp>
        <p:nvSpPr>
          <p:cNvPr id="30" name="label-pwm">
            <a:extLst>
              <a:ext uri="{FF2B5EF4-FFF2-40B4-BE49-F238E27FC236}">
                <a16:creationId xmlns:a16="http://schemas.microsoft.com/office/drawing/2014/main" id="{B7F7BE45-BE4B-42D6-BA7E-BBF38E42D305}"/>
              </a:ext>
            </a:extLst>
          </p:cNvPr>
          <p:cNvSpPr>
            <a:spLocks noGrp="1"/>
          </p:cNvSpPr>
          <p:nvPr/>
        </p:nvSpPr>
        <p:spPr>
          <a:xfrm>
            <a:off x="5095875" y="2257425"/>
            <a:ext cx="933450" cy="2476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900" b="1">
                <a:solidFill>
                  <a:srgbClr val="23A3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A36D"/>
                </a:solidFill>
                <a:latin typeface="Arial"/>
                <a:ea typeface="Arial"/>
                <a:cs typeface="Arial"/>
              </a:rPr>
              <a:t>PWM + DIR</a:t>
            </a:r>
          </a:p>
        </p:txBody>
      </p:sp>
      <p:sp>
        <p:nvSpPr>
          <p:cNvPr id="31" name="label-servos">
            <a:extLst>
              <a:ext uri="{FF2B5EF4-FFF2-40B4-BE49-F238E27FC236}">
                <a16:creationId xmlns:a16="http://schemas.microsoft.com/office/drawing/2014/main" id="{FE76AACE-F3F9-4243-9661-F293CEEF4F0D}"/>
              </a:ext>
            </a:extLst>
          </p:cNvPr>
          <p:cNvSpPr>
            <a:spLocks noGrp="1"/>
          </p:cNvSpPr>
          <p:nvPr/>
        </p:nvSpPr>
        <p:spPr>
          <a:xfrm>
            <a:off x="5095875" y="4048125"/>
            <a:ext cx="933450" cy="2476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900" b="1">
                <a:solidFill>
                  <a:srgbClr val="23A3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A36D"/>
                </a:solidFill>
                <a:latin typeface="Arial"/>
                <a:ea typeface="Arial"/>
                <a:cs typeface="Arial"/>
              </a:rPr>
              <a:t>GPIO PWM</a:t>
            </a:r>
          </a:p>
        </p:txBody>
      </p:sp>
      <p:sp>
        <p:nvSpPr>
          <p:cNvPr id="32" name="power-and-ground-rail">
            <a:extLst>
              <a:ext uri="{FF2B5EF4-FFF2-40B4-BE49-F238E27FC236}">
                <a16:creationId xmlns:a16="http://schemas.microsoft.com/office/drawing/2014/main" id="{D9B24BEC-36E9-49CD-8556-EBE4CD89D83E}"/>
              </a:ext>
            </a:extLst>
          </p:cNvPr>
          <p:cNvSpPr>
            <a:spLocks noGrp="1"/>
          </p:cNvSpPr>
          <p:nvPr/>
        </p:nvSpPr>
        <p:spPr>
          <a:xfrm>
            <a:off x="1381125" y="5143500"/>
            <a:ext cx="9429750" cy="523875"/>
          </a:xfrm>
          <a:prstGeom prst="roundRect">
            <a:avLst>
              <a:gd name="adj" fmla="val 21818"/>
            </a:avLst>
          </a:prstGeom>
          <a:solidFill>
            <a:srgbClr val="FFF6DF"/>
          </a:solidFill>
          <a:ln w="19050">
            <a:solidFill>
              <a:srgbClr val="F59E0B"/>
            </a:solidFill>
            <a:prstDash val="solid"/>
          </a:ln>
        </p:spPr>
        <p:txBody>
          <a:bodyPr lIns="95250" tIns="57150" rIns="95250" bIns="57150" anchor="ctr">
            <a:normAutofit/>
          </a:bodyPr>
          <a:lstStyle/>
          <a:p>
            <a:pPr algn="ctr">
              <a:buNone/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15C00"/>
                </a:solidFill>
                <a:latin typeface="Arial"/>
                <a:ea typeface="Arial"/>
                <a:cs typeface="Arial"/>
              </a:rPr>
              <a:t>POWER + GROUND   </a:t>
            </a:r>
            <a:r>
              <a:rPr sz="1050">
                <a:solidFill>
                  <a:srgbClr val="07111F"/>
                </a:solidFill>
                <a:latin typeface="Arial"/>
                <a:ea typeface="Arial"/>
                <a:cs typeface="Arial"/>
              </a:rPr>
              <a:t>3S battery → L298N motor rail    |    LM2596 → regulated 5 V for both ESP32 boards + servos    |    all modules share common ground</a:t>
            </a:r>
          </a:p>
        </p:txBody>
      </p:sp>
    </p:spTree>
    <p:extLst>
      <p:ext uri="{BB962C8B-B14F-4D97-AF65-F5344CB8AC3E}">
        <p14:creationId xmlns:p14="http://schemas.microsoft.com/office/powerpoint/2010/main" val="1365800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45068B8-0662-4A7B-9D0D-B96C1ACBCE91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HARDWARE IMPLEMENTATION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DA34E54-3394-440D-8A32-A863AF5941AD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1125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45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Accessible modules form a complete rover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21DD6E-DAD3-4ABC-9CF9-C2D79DA44C62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11252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F26681-DEC3-4FC3-955B-42D2ECE21504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5238750" cy="1524000"/>
          </a:xfrm>
          <a:prstGeom prst="rect">
            <a:avLst/>
          </a:prstGeom>
          <a:solidFill>
            <a:srgbClr val="F6F7F9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0DC6A-7236-4262-8125-4D33F751C672}"/>
              </a:ext>
            </a:extLst>
          </p:cNvPr>
          <p:cNvSpPr>
            <a:spLocks noGrp="1"/>
          </p:cNvSpPr>
          <p:nvPr/>
        </p:nvSpPr>
        <p:spPr>
          <a:xfrm>
            <a:off x="742950" y="2143125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9D401D-D938-40A8-AC6B-EB2931693890}"/>
              </a:ext>
            </a:extLst>
          </p:cNvPr>
          <p:cNvSpPr>
            <a:spLocks noGrp="1"/>
          </p:cNvSpPr>
          <p:nvPr/>
        </p:nvSpPr>
        <p:spPr>
          <a:xfrm>
            <a:off x="1533525" y="2143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82C813-9017-4D2F-A927-AA5F39DC31D7}"/>
              </a:ext>
            </a:extLst>
          </p:cNvPr>
          <p:cNvSpPr>
            <a:spLocks noGrp="1"/>
          </p:cNvSpPr>
          <p:nvPr/>
        </p:nvSpPr>
        <p:spPr>
          <a:xfrm>
            <a:off x="1533525" y="257175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30-pin ESP32</a:t>
            </a:r>
          </a:p>
          <a:p>
            <a:pPr algn="l">
              <a:buNone/>
              <a:defRPr sz="1725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Web server · PWM · UART2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59308B-7764-4614-9B2F-F67F05016A6C}"/>
              </a:ext>
            </a:extLst>
          </p:cNvPr>
          <p:cNvSpPr>
            <a:spLocks noGrp="1"/>
          </p:cNvSpPr>
          <p:nvPr/>
        </p:nvSpPr>
        <p:spPr>
          <a:xfrm>
            <a:off x="6248400" y="1952625"/>
            <a:ext cx="5238750" cy="1524000"/>
          </a:xfrm>
          <a:prstGeom prst="rect">
            <a:avLst/>
          </a:prstGeom>
          <a:solidFill>
            <a:srgbClr val="F6F7F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4E82AC-33E7-498A-B7FB-F128179A247A}"/>
              </a:ext>
            </a:extLst>
          </p:cNvPr>
          <p:cNvSpPr>
            <a:spLocks noGrp="1"/>
          </p:cNvSpPr>
          <p:nvPr/>
        </p:nvSpPr>
        <p:spPr>
          <a:xfrm>
            <a:off x="6457950" y="2143125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1E8970-1024-4458-8ED9-77B5C68112A9}"/>
              </a:ext>
            </a:extLst>
          </p:cNvPr>
          <p:cNvSpPr>
            <a:spLocks noGrp="1"/>
          </p:cNvSpPr>
          <p:nvPr/>
        </p:nvSpPr>
        <p:spPr>
          <a:xfrm>
            <a:off x="7248525" y="2143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0F26CC-73CC-4EB3-96B9-D45509FDD82D}"/>
              </a:ext>
            </a:extLst>
          </p:cNvPr>
          <p:cNvSpPr>
            <a:spLocks noGrp="1"/>
          </p:cNvSpPr>
          <p:nvPr/>
        </p:nvSpPr>
        <p:spPr>
          <a:xfrm>
            <a:off x="7248525" y="257175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ESP32-CAM</a:t>
            </a:r>
          </a:p>
          <a:p>
            <a:pPr algn="l">
              <a:buNone/>
              <a:defRPr sz="1725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MJPEG stream · flash LED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26DDAC-6425-4FEC-B028-FFB94CBD6482}"/>
              </a:ext>
            </a:extLst>
          </p:cNvPr>
          <p:cNvSpPr>
            <a:spLocks noGrp="1"/>
          </p:cNvSpPr>
          <p:nvPr/>
        </p:nvSpPr>
        <p:spPr>
          <a:xfrm>
            <a:off x="533400" y="3905250"/>
            <a:ext cx="5238750" cy="1524000"/>
          </a:xfrm>
          <a:prstGeom prst="rect">
            <a:avLst/>
          </a:prstGeom>
          <a:solidFill>
            <a:srgbClr val="F6F7F9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942338-C8D9-465B-B458-59EA1FB97BD5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29A8E3-492D-43DF-AC42-73210A0A6A3B}"/>
              </a:ext>
            </a:extLst>
          </p:cNvPr>
          <p:cNvSpPr>
            <a:spLocks noGrp="1"/>
          </p:cNvSpPr>
          <p:nvPr/>
        </p:nvSpPr>
        <p:spPr>
          <a:xfrm>
            <a:off x="1533525" y="40957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MOTION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BB4CCA-CC9D-44AC-90D2-EC44EDF4056C}"/>
              </a:ext>
            </a:extLst>
          </p:cNvPr>
          <p:cNvSpPr>
            <a:spLocks noGrp="1"/>
          </p:cNvSpPr>
          <p:nvPr/>
        </p:nvSpPr>
        <p:spPr>
          <a:xfrm>
            <a:off x="1533525" y="4524375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2 × L298N</a:t>
            </a:r>
          </a:p>
          <a:p>
            <a:pPr algn="l">
              <a:buNone/>
              <a:defRPr sz="1725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4 geared DC motors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20EEF5-6A33-43DE-B2AA-EBA33CB156EF}"/>
              </a:ext>
            </a:extLst>
          </p:cNvPr>
          <p:cNvSpPr>
            <a:spLocks noGrp="1"/>
          </p:cNvSpPr>
          <p:nvPr/>
        </p:nvSpPr>
        <p:spPr>
          <a:xfrm>
            <a:off x="6248400" y="3905250"/>
            <a:ext cx="5238750" cy="152400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9FF159-4E88-4EC9-896E-85E7E91A82CD}"/>
              </a:ext>
            </a:extLst>
          </p:cNvPr>
          <p:cNvSpPr>
            <a:spLocks noGrp="1"/>
          </p:cNvSpPr>
          <p:nvPr/>
        </p:nvSpPr>
        <p:spPr>
          <a:xfrm>
            <a:off x="6457950" y="4095750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49AF52-2FC6-4CB0-B013-9F5A44370E5D}"/>
              </a:ext>
            </a:extLst>
          </p:cNvPr>
          <p:cNvSpPr>
            <a:spLocks noGrp="1"/>
          </p:cNvSpPr>
          <p:nvPr/>
        </p:nvSpPr>
        <p:spPr>
          <a:xfrm>
            <a:off x="7248525" y="40957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VIEW + POWER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EF6F40-4C57-4886-B855-E9D8BCE5FB80}"/>
              </a:ext>
            </a:extLst>
          </p:cNvPr>
          <p:cNvSpPr>
            <a:spLocks noGrp="1"/>
          </p:cNvSpPr>
          <p:nvPr/>
        </p:nvSpPr>
        <p:spPr>
          <a:xfrm>
            <a:off x="7248525" y="4524375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2 × SG90 servos</a:t>
            </a:r>
          </a:p>
          <a:p>
            <a:pPr algn="l">
              <a:buNone/>
              <a:defRPr sz="1725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3S battery · LM2596 at 5.0 V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B8DB0B-B9A9-48C6-B569-0C0CAC5018A3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7"/>
                </a:solidFill>
                <a:latin typeface="Arial"/>
                <a:ea typeface="Arial"/>
                <a:cs typeface="Arial"/>
              </a:rPr>
              <a:t>LEAD PRESENTER  ·  Fahad Hossain Shourov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CDF1E9-728D-411A-A64B-8D2181970CE2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37804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85D212D-43FA-49DC-9235-06D65062F085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ELECTRICAL DESIGN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D20C0DA-7EB6-49DC-9200-3530D99BE843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1125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45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Shared power design makes integration reliable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82CFFC-BB66-428C-8F7E-9D06BD263355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11252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059289-498E-4ABA-9269-1B67F03F269B}"/>
              </a:ext>
            </a:extLst>
          </p:cNvPr>
          <p:cNvSpPr>
            <a:spLocks noGrp="1"/>
          </p:cNvSpPr>
          <p:nvPr/>
        </p:nvSpPr>
        <p:spPr>
          <a:xfrm>
            <a:off x="533400" y="198120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F05A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5A67"/>
                </a:solidFill>
                <a:latin typeface="Arial"/>
                <a:ea typeface="Arial"/>
                <a:cs typeface="Arial"/>
              </a:rPr>
              <a:t>MOTOR RAIL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25E68C-44D9-40AA-B435-BC1550F15433}"/>
              </a:ext>
            </a:extLst>
          </p:cNvPr>
          <p:cNvSpPr>
            <a:spLocks noGrp="1"/>
          </p:cNvSpPr>
          <p:nvPr/>
        </p:nvSpPr>
        <p:spPr>
          <a:xfrm>
            <a:off x="533400" y="2286000"/>
            <a:ext cx="4333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3S battery → both L298N motor inputs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62468C-266B-441D-A780-2C05D3AFD322}"/>
              </a:ext>
            </a:extLst>
          </p:cNvPr>
          <p:cNvSpPr>
            <a:spLocks noGrp="1"/>
          </p:cNvSpPr>
          <p:nvPr/>
        </p:nvSpPr>
        <p:spPr>
          <a:xfrm>
            <a:off x="533400" y="319087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LOGIC RAIL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563EA8-9EAB-4754-B614-532DAD0C7886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433387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LM2596 → regulated 5.0 V for both ESP32 boards and servos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EB9F92-6727-459C-85A3-F5DDB676D70F}"/>
              </a:ext>
            </a:extLst>
          </p:cNvPr>
          <p:cNvSpPr>
            <a:spLocks noGrp="1"/>
          </p:cNvSpPr>
          <p:nvPr/>
        </p:nvSpPr>
        <p:spPr>
          <a:xfrm>
            <a:off x="533400" y="4695825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1FA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AD78"/>
                </a:solidFill>
                <a:latin typeface="Arial"/>
                <a:ea typeface="Arial"/>
                <a:cs typeface="Arial"/>
              </a:rPr>
              <a:t>SIGNAL REFERENCE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282978-BE0C-4171-8624-67BE3CECDD8F}"/>
              </a:ext>
            </a:extLst>
          </p:cNvPr>
          <p:cNvSpPr>
            <a:spLocks noGrp="1"/>
          </p:cNvSpPr>
          <p:nvPr/>
        </p:nvSpPr>
        <p:spPr>
          <a:xfrm>
            <a:off x="533400" y="5000625"/>
            <a:ext cx="43338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Battery, controllers, drivers, and servos share one common ground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E74AB0-70D2-4285-B309-8491768FE257}"/>
              </a:ext>
            </a:extLst>
          </p:cNvPr>
          <p:cNvSpPr>
            <a:spLocks noGrp="1"/>
          </p:cNvSpPr>
          <p:nvPr/>
        </p:nvSpPr>
        <p:spPr>
          <a:xfrm>
            <a:off x="5334000" y="1809750"/>
            <a:ext cx="6324600" cy="409575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84760" y="1952625"/>
            <a:ext cx="3223081" cy="3810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DB95D40-F1A6-43CF-A4C2-29CFC2207735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7"/>
                </a:solidFill>
                <a:latin typeface="Arial"/>
                <a:ea typeface="Arial"/>
                <a:cs typeface="Arial"/>
              </a:rPr>
              <a:t>LEAD PRESENTER  ·  Fahad Hossain Shourov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BD87A8-70A8-433C-B8A8-306412352DA6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8444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C0B8381-6110-4401-BDC8-06B23F3508F0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OPERATOR EXPERIENCE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1963529-9AA3-4E72-8EEB-A8AC9CE31287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1125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45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One browser page unifies control and video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084EFC-2B96-4505-BA72-4C335998312B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11252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84E5FA-ED51-4A18-A950-B37BA760BFAC}"/>
              </a:ext>
            </a:extLst>
          </p:cNvPr>
          <p:cNvSpPr>
            <a:spLocks noGrp="1"/>
          </p:cNvSpPr>
          <p:nvPr/>
        </p:nvSpPr>
        <p:spPr>
          <a:xfrm>
            <a:off x="533400" y="1857375"/>
            <a:ext cx="5810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Persistent WebSocket control keeps commands responsive while MJPEG video remains visible in the same interface.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01DE9D-388A-460B-9461-87920B0E74E5}"/>
              </a:ext>
            </a:extLst>
          </p:cNvPr>
          <p:cNvSpPr>
            <a:spLocks noGrp="1"/>
          </p:cNvSpPr>
          <p:nvPr/>
        </p:nvSpPr>
        <p:spPr>
          <a:xfrm>
            <a:off x="533400" y="3762375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DRIVE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E3AEE9-96C3-4403-8C33-5D02AEEAC33C}"/>
              </a:ext>
            </a:extLst>
          </p:cNvPr>
          <p:cNvSpPr>
            <a:spLocks noGrp="1"/>
          </p:cNvSpPr>
          <p:nvPr/>
        </p:nvSpPr>
        <p:spPr>
          <a:xfrm>
            <a:off x="1695450" y="3733800"/>
            <a:ext cx="4619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Press-and-hold F / B / L / R · Stop on release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A4A800-BCBD-43FF-8529-4E7D01DE2786}"/>
              </a:ext>
            </a:extLst>
          </p:cNvPr>
          <p:cNvSpPr>
            <a:spLocks noGrp="1"/>
          </p:cNvSpPr>
          <p:nvPr/>
        </p:nvSpPr>
        <p:spPr>
          <a:xfrm>
            <a:off x="533400" y="4448175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WATCH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465559-4405-4C47-9C36-1CCA8DAADA10}"/>
              </a:ext>
            </a:extLst>
          </p:cNvPr>
          <p:cNvSpPr>
            <a:spLocks noGrp="1"/>
          </p:cNvSpPr>
          <p:nvPr/>
        </p:nvSpPr>
        <p:spPr>
          <a:xfrm>
            <a:off x="1695450" y="4419600"/>
            <a:ext cx="4619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Live stream from ESP32-CAM on port 81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060EC9-04CB-4ACC-8D07-DE560A6CA8D1}"/>
              </a:ext>
            </a:extLst>
          </p:cNvPr>
          <p:cNvSpPr>
            <a:spLocks noGrp="1"/>
          </p:cNvSpPr>
          <p:nvPr/>
        </p:nvSpPr>
        <p:spPr>
          <a:xfrm>
            <a:off x="533400" y="5133975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05A0C9-4C12-4F5E-AE2E-0D1CE2359AEB}"/>
              </a:ext>
            </a:extLst>
          </p:cNvPr>
          <p:cNvSpPr>
            <a:spLocks noGrp="1"/>
          </p:cNvSpPr>
          <p:nvPr/>
        </p:nvSpPr>
        <p:spPr>
          <a:xfrm>
            <a:off x="1695450" y="5105400"/>
            <a:ext cx="4619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Pan P0–P180 · Tilt T0–T180 · Flash control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A3734D-2B8A-4772-BBA9-AAF66C03FDE1}"/>
              </a:ext>
            </a:extLst>
          </p:cNvPr>
          <p:cNvSpPr>
            <a:spLocks noGrp="1"/>
          </p:cNvSpPr>
          <p:nvPr/>
        </p:nvSpPr>
        <p:spPr>
          <a:xfrm>
            <a:off x="6953250" y="1828800"/>
            <a:ext cx="4705350" cy="3924300"/>
          </a:xfrm>
          <a:prstGeom prst="rect">
            <a:avLst/>
          </a:prstGeom>
          <a:solidFill>
            <a:srgbClr val="071426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2B445E-78B3-4952-9429-4382385AC9C4}"/>
              </a:ext>
            </a:extLst>
          </p:cNvPr>
          <p:cNvSpPr>
            <a:spLocks noGrp="1"/>
          </p:cNvSpPr>
          <p:nvPr/>
        </p:nvSpPr>
        <p:spPr>
          <a:xfrm>
            <a:off x="7286625" y="2143125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CONTROL LOOP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3C04A1-C664-455D-856F-99FCE8E54D93}"/>
              </a:ext>
            </a:extLst>
          </p:cNvPr>
          <p:cNvSpPr>
            <a:spLocks noGrp="1"/>
          </p:cNvSpPr>
          <p:nvPr/>
        </p:nvSpPr>
        <p:spPr>
          <a:xfrm>
            <a:off x="7286625" y="2619375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7E74A0-A598-4D6C-94B2-BC1D8D921BB8}"/>
              </a:ext>
            </a:extLst>
          </p:cNvPr>
          <p:cNvSpPr>
            <a:spLocks noGrp="1"/>
          </p:cNvSpPr>
          <p:nvPr/>
        </p:nvSpPr>
        <p:spPr>
          <a:xfrm>
            <a:off x="7286625" y="3143250"/>
            <a:ext cx="342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A9C5E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C5E1"/>
                </a:solidFill>
                <a:latin typeface="Arial"/>
                <a:ea typeface="Arial"/>
                <a:cs typeface="Arial"/>
              </a:rPr>
              <a:t>↓  WebSocket commands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D2842B-8B50-43A3-AE74-F8170FB45631}"/>
              </a:ext>
            </a:extLst>
          </p:cNvPr>
          <p:cNvSpPr>
            <a:spLocks noGrp="1"/>
          </p:cNvSpPr>
          <p:nvPr/>
        </p:nvSpPr>
        <p:spPr>
          <a:xfrm>
            <a:off x="7286625" y="36385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 ESP32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8644E9-C53F-474C-9A16-14D933A24054}"/>
              </a:ext>
            </a:extLst>
          </p:cNvPr>
          <p:cNvSpPr>
            <a:spLocks noGrp="1"/>
          </p:cNvSpPr>
          <p:nvPr/>
        </p:nvSpPr>
        <p:spPr>
          <a:xfrm>
            <a:off x="7286625" y="4162425"/>
            <a:ext cx="342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A9C5E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C5E1"/>
                </a:solidFill>
                <a:latin typeface="Arial"/>
                <a:ea typeface="Arial"/>
                <a:cs typeface="Arial"/>
              </a:rPr>
              <a:t>↓  PWM + direction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8D6BAE-5FC0-470E-9814-BCCDB4877E3C}"/>
              </a:ext>
            </a:extLst>
          </p:cNvPr>
          <p:cNvSpPr>
            <a:spLocks noGrp="1"/>
          </p:cNvSpPr>
          <p:nvPr/>
        </p:nvSpPr>
        <p:spPr>
          <a:xfrm>
            <a:off x="7286625" y="466725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Four motors + pan / tilt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E3A57C-D910-43E5-B772-123C41FF0860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7"/>
                </a:solidFill>
                <a:latin typeface="Arial"/>
                <a:ea typeface="Arial"/>
                <a:cs typeface="Arial"/>
              </a:rPr>
              <a:t>LEAD PRESENTER  ·  Pujon Chakraborty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CF03A5-39C5-4B50-8411-F1EC72655913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4641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2130D00-5C12-49ED-AF06-95A14A82F66E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FAIL-SAFE CONTROL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6084103-607E-4A6D-8E55-93EB04679AF6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1125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Safety is enforced on the rover—not in the browser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54C48A-DBB6-4AB7-9C8C-D9C4EED54D51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1125200" cy="19050"/>
          </a:xfrm>
          <a:prstGeom prst="rect">
            <a:avLst/>
          </a:prstGeom>
          <a:solidFill>
            <a:srgbClr val="29425E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BC33D9-52AC-4B3E-95C5-B62E0A820ACB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6858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Any lost control path returns every motor enable output to zero.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E828925-4828-4B44-9098-68A24C9E1859}"/>
              </a:ext>
            </a:extLst>
          </p:cNvPr>
          <p:cNvSpPr>
            <a:spLocks noGrp="1"/>
          </p:cNvSpPr>
          <p:nvPr/>
        </p:nvSpPr>
        <p:spPr>
          <a:xfrm>
            <a:off x="533400" y="2905125"/>
            <a:ext cx="2857500" cy="742950"/>
          </a:xfrm>
          <a:prstGeom prst="roundRect">
            <a:avLst>
              <a:gd name="adj" fmla="val 10256"/>
            </a:avLst>
          </a:prstGeom>
          <a:solidFill>
            <a:srgbClr val="112743"/>
          </a:solidFill>
          <a:ln w="9525">
            <a:solidFill>
              <a:srgbClr val="294A6D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5726CB-03A1-47FD-8B82-1A539E487731}"/>
              </a:ext>
            </a:extLst>
          </p:cNvPr>
          <p:cNvSpPr>
            <a:spLocks noGrp="1"/>
          </p:cNvSpPr>
          <p:nvPr/>
        </p:nvSpPr>
        <p:spPr>
          <a:xfrm>
            <a:off x="704850" y="307657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F0E949-BD1D-48B0-B9CD-EEAAE7E3A1BB}"/>
              </a:ext>
            </a:extLst>
          </p:cNvPr>
          <p:cNvSpPr>
            <a:spLocks noGrp="1"/>
          </p:cNvSpPr>
          <p:nvPr/>
        </p:nvSpPr>
        <p:spPr>
          <a:xfrm>
            <a:off x="1219200" y="3067050"/>
            <a:ext cx="195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Button release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9271FF-ABF9-4FB4-A70C-684BB005DE5D}"/>
              </a:ext>
            </a:extLst>
          </p:cNvPr>
          <p:cNvSpPr>
            <a:spLocks noGrp="1"/>
          </p:cNvSpPr>
          <p:nvPr/>
        </p:nvSpPr>
        <p:spPr>
          <a:xfrm>
            <a:off x="3676650" y="2905125"/>
            <a:ext cx="2857500" cy="742950"/>
          </a:xfrm>
          <a:prstGeom prst="roundRect">
            <a:avLst>
              <a:gd name="adj" fmla="val 10256"/>
            </a:avLst>
          </a:prstGeom>
          <a:solidFill>
            <a:srgbClr val="112743"/>
          </a:solidFill>
          <a:ln w="9525">
            <a:solidFill>
              <a:srgbClr val="294A6D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23481C-D6E6-4E32-8B2F-BFF33E66B5DD}"/>
              </a:ext>
            </a:extLst>
          </p:cNvPr>
          <p:cNvSpPr>
            <a:spLocks noGrp="1"/>
          </p:cNvSpPr>
          <p:nvPr/>
        </p:nvSpPr>
        <p:spPr>
          <a:xfrm>
            <a:off x="3848100" y="307657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CCB213-13FF-43C7-95EE-9E72961CBE13}"/>
              </a:ext>
            </a:extLst>
          </p:cNvPr>
          <p:cNvSpPr>
            <a:spLocks noGrp="1"/>
          </p:cNvSpPr>
          <p:nvPr/>
        </p:nvSpPr>
        <p:spPr>
          <a:xfrm>
            <a:off x="4362450" y="3067050"/>
            <a:ext cx="195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Stale command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287613-720B-4443-8951-6F3AE188E4D5}"/>
              </a:ext>
            </a:extLst>
          </p:cNvPr>
          <p:cNvSpPr>
            <a:spLocks noGrp="1"/>
          </p:cNvSpPr>
          <p:nvPr/>
        </p:nvSpPr>
        <p:spPr>
          <a:xfrm>
            <a:off x="533400" y="3905250"/>
            <a:ext cx="2857500" cy="742950"/>
          </a:xfrm>
          <a:prstGeom prst="roundRect">
            <a:avLst>
              <a:gd name="adj" fmla="val 10256"/>
            </a:avLst>
          </a:prstGeom>
          <a:solidFill>
            <a:srgbClr val="112743"/>
          </a:solidFill>
          <a:ln w="9525">
            <a:solidFill>
              <a:srgbClr val="294A6D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F7BF44-94C9-4E44-92F6-BFEC4D583317}"/>
              </a:ext>
            </a:extLst>
          </p:cNvPr>
          <p:cNvSpPr>
            <a:spLocks noGrp="1"/>
          </p:cNvSpPr>
          <p:nvPr/>
        </p:nvSpPr>
        <p:spPr>
          <a:xfrm>
            <a:off x="704850" y="40767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FDE06F-55CF-42E0-97ED-64679CDB2077}"/>
              </a:ext>
            </a:extLst>
          </p:cNvPr>
          <p:cNvSpPr>
            <a:spLocks noGrp="1"/>
          </p:cNvSpPr>
          <p:nvPr/>
        </p:nvSpPr>
        <p:spPr>
          <a:xfrm>
            <a:off x="1219200" y="4067175"/>
            <a:ext cx="195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 disconnect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6FD5202-D8E9-4502-AA7E-D106515A9520}"/>
              </a:ext>
            </a:extLst>
          </p:cNvPr>
          <p:cNvSpPr>
            <a:spLocks noGrp="1"/>
          </p:cNvSpPr>
          <p:nvPr/>
        </p:nvSpPr>
        <p:spPr>
          <a:xfrm>
            <a:off x="3676650" y="3905250"/>
            <a:ext cx="2857500" cy="742950"/>
          </a:xfrm>
          <a:prstGeom prst="roundRect">
            <a:avLst>
              <a:gd name="adj" fmla="val 10256"/>
            </a:avLst>
          </a:prstGeom>
          <a:solidFill>
            <a:srgbClr val="112743"/>
          </a:solidFill>
          <a:ln w="9525">
            <a:solidFill>
              <a:srgbClr val="294A6D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96FFB6-A377-4B9C-A9CF-02C573745D8C}"/>
              </a:ext>
            </a:extLst>
          </p:cNvPr>
          <p:cNvSpPr>
            <a:spLocks noGrp="1"/>
          </p:cNvSpPr>
          <p:nvPr/>
        </p:nvSpPr>
        <p:spPr>
          <a:xfrm>
            <a:off x="3848100" y="40767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54EF13-8B5F-4586-9422-A84600C5B075}"/>
              </a:ext>
            </a:extLst>
          </p:cNvPr>
          <p:cNvSpPr>
            <a:spLocks noGrp="1"/>
          </p:cNvSpPr>
          <p:nvPr/>
        </p:nvSpPr>
        <p:spPr>
          <a:xfrm>
            <a:off x="4362450" y="4067175"/>
            <a:ext cx="195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Wi-Fi loss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A8F756-D496-46CE-A449-600DAAA768DE}"/>
              </a:ext>
            </a:extLst>
          </p:cNvPr>
          <p:cNvSpPr>
            <a:spLocks noGrp="1"/>
          </p:cNvSpPr>
          <p:nvPr/>
        </p:nvSpPr>
        <p:spPr>
          <a:xfrm>
            <a:off x="7524750" y="1952625"/>
            <a:ext cx="1809750" cy="3143250"/>
          </a:xfrm>
          <a:prstGeom prst="rect">
            <a:avLst/>
          </a:prstGeom>
          <a:solidFill>
            <a:srgbClr val="0E2038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C70D36-6969-4C09-A66E-1BC569037462}"/>
              </a:ext>
            </a:extLst>
          </p:cNvPr>
          <p:cNvSpPr>
            <a:spLocks noGrp="1"/>
          </p:cNvSpPr>
          <p:nvPr/>
        </p:nvSpPr>
        <p:spPr>
          <a:xfrm>
            <a:off x="7810500" y="2381250"/>
            <a:ext cx="1238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49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0DD7EA-1B13-4952-AD7A-39A5C39E8A73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238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ms reversal</a:t>
            </a:r>
          </a:p>
          <a:p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dead time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B2B0AE-EC5E-4740-AEC8-E927AB8EC860}"/>
              </a:ext>
            </a:extLst>
          </p:cNvPr>
          <p:cNvSpPr>
            <a:spLocks noGrp="1"/>
          </p:cNvSpPr>
          <p:nvPr/>
        </p:nvSpPr>
        <p:spPr>
          <a:xfrm>
            <a:off x="9525000" y="1952625"/>
            <a:ext cx="2133600" cy="3143250"/>
          </a:xfrm>
          <a:prstGeom prst="rect">
            <a:avLst/>
          </a:prstGeom>
          <a:solidFill>
            <a:srgbClr val="0E2038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A7AA48-79E5-4B7E-B5DD-29212DE77527}"/>
              </a:ext>
            </a:extLst>
          </p:cNvPr>
          <p:cNvSpPr>
            <a:spLocks noGrp="1"/>
          </p:cNvSpPr>
          <p:nvPr/>
        </p:nvSpPr>
        <p:spPr>
          <a:xfrm>
            <a:off x="9696450" y="2381250"/>
            <a:ext cx="17907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450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1300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8CFD4B-BC8D-4150-AF31-E6CE2D97B77E}"/>
              </a:ext>
            </a:extLst>
          </p:cNvPr>
          <p:cNvSpPr>
            <a:spLocks noGrp="1"/>
          </p:cNvSpPr>
          <p:nvPr/>
        </p:nvSpPr>
        <p:spPr>
          <a:xfrm>
            <a:off x="9810750" y="3286125"/>
            <a:ext cx="1571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ms command</a:t>
            </a:r>
          </a:p>
          <a:p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timeout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4B8782-20B2-4B1A-93F7-C8892D9ECB88}"/>
              </a:ext>
            </a:extLst>
          </p:cNvPr>
          <p:cNvSpPr>
            <a:spLocks noGrp="1"/>
          </p:cNvSpPr>
          <p:nvPr/>
        </p:nvSpPr>
        <p:spPr>
          <a:xfrm>
            <a:off x="7524750" y="5381625"/>
            <a:ext cx="4133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B8CCE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CE0"/>
                </a:solidFill>
                <a:latin typeface="Arial"/>
                <a:ea typeface="Arial"/>
                <a:cs typeface="Arial"/>
              </a:rPr>
              <a:t>Direction reversal first neutralizes PWM and motor polarity, then applies the new command.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708132-B109-48FD-AD77-E8F1925999CF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9CB3C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B3CC"/>
                </a:solidFill>
                <a:latin typeface="Arial"/>
                <a:ea typeface="Arial"/>
                <a:cs typeface="Arial"/>
              </a:rPr>
              <a:t>LEAD PRESENTER  ·  Pujon Chakraborty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3F0785-1C18-4B54-BADF-875ADA0F1850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9CB3C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CB3C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9188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F50F450-F191-434C-B786-4BDEC8FDF623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PROJECT STATUS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DA82907-B891-4163-BDBA-20851520F9A6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1125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45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499A is complete; face recognition comes next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BCFE92-B6F3-4324-BA56-DB87CDB2E76E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11252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5B20EC-3FF7-4336-B275-7FC37A6BC8C1}"/>
              </a:ext>
            </a:extLst>
          </p:cNvPr>
          <p:cNvSpPr>
            <a:spLocks noGrp="1"/>
          </p:cNvSpPr>
          <p:nvPr/>
        </p:nvSpPr>
        <p:spPr>
          <a:xfrm>
            <a:off x="533400" y="1857375"/>
            <a:ext cx="6858000" cy="3857625"/>
          </a:xfrm>
          <a:prstGeom prst="rect">
            <a:avLst/>
          </a:prstGeom>
          <a:solidFill>
            <a:srgbClr val="F4FAF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01B866-C721-44B2-AF9A-9E2C987509A4}"/>
              </a:ext>
            </a:extLst>
          </p:cNvPr>
          <p:cNvSpPr>
            <a:spLocks noGrp="1"/>
          </p:cNvSpPr>
          <p:nvPr/>
        </p:nvSpPr>
        <p:spPr>
          <a:xfrm>
            <a:off x="819150" y="2143125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1FA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AD78"/>
                </a:solidFill>
                <a:latin typeface="Arial"/>
                <a:ea typeface="Arial"/>
                <a:cs typeface="Arial"/>
              </a:rPr>
              <a:t>COMPLETED AND VERIFIED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436CE1-DEB2-4733-87E5-5AA2D4DEA8C4}"/>
              </a:ext>
            </a:extLst>
          </p:cNvPr>
          <p:cNvSpPr>
            <a:spLocks noGrp="1"/>
          </p:cNvSpPr>
          <p:nvPr/>
        </p:nvSpPr>
        <p:spPr>
          <a:xfrm>
            <a:off x="819150" y="2619375"/>
            <a:ext cx="609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7111F"/>
                </a:solidFill>
                <a:latin typeface="Arial"/>
                <a:ea typeface="Arial"/>
                <a:cs typeface="Arial"/>
              </a:rPr>
              <a:t>✓  Four-wheel motion and corrected motor polarity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C337D2-4B83-4DA1-AD7C-025008BBCBCF}"/>
              </a:ext>
            </a:extLst>
          </p:cNvPr>
          <p:cNvSpPr>
            <a:spLocks noGrp="1"/>
          </p:cNvSpPr>
          <p:nvPr/>
        </p:nvSpPr>
        <p:spPr>
          <a:xfrm>
            <a:off x="819150" y="3086100"/>
            <a:ext cx="609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7111F"/>
                </a:solidFill>
                <a:latin typeface="Arial"/>
                <a:ea typeface="Arial"/>
                <a:cs typeface="Arial"/>
              </a:rPr>
              <a:t>✓  Browser + WebSocket control with reconnection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732DF4-D543-48E7-9A20-BF52F5944C25}"/>
              </a:ext>
            </a:extLst>
          </p:cNvPr>
          <p:cNvSpPr>
            <a:spLocks noGrp="1"/>
          </p:cNvSpPr>
          <p:nvPr/>
        </p:nvSpPr>
        <p:spPr>
          <a:xfrm>
            <a:off x="819150" y="3552825"/>
            <a:ext cx="609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7111F"/>
                </a:solidFill>
                <a:latin typeface="Arial"/>
                <a:ea typeface="Arial"/>
                <a:cs typeface="Arial"/>
              </a:rPr>
              <a:t>✓  Live ESP32-CAM stream in the control page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1AE1D3-2F82-4D66-B0BE-07A96E808374}"/>
              </a:ext>
            </a:extLst>
          </p:cNvPr>
          <p:cNvSpPr>
            <a:spLocks noGrp="1"/>
          </p:cNvSpPr>
          <p:nvPr/>
        </p:nvSpPr>
        <p:spPr>
          <a:xfrm>
            <a:off x="819150" y="4019550"/>
            <a:ext cx="609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7111F"/>
                </a:solidFill>
                <a:latin typeface="Arial"/>
                <a:ea typeface="Arial"/>
                <a:cs typeface="Arial"/>
              </a:rPr>
              <a:t>✓  Pan, tilt, and camera-light 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B88BC6-23F3-4B2F-A934-ECCEBDC4947C}"/>
              </a:ext>
            </a:extLst>
          </p:cNvPr>
          <p:cNvSpPr>
            <a:spLocks noGrp="1"/>
          </p:cNvSpPr>
          <p:nvPr/>
        </p:nvSpPr>
        <p:spPr>
          <a:xfrm>
            <a:off x="819150" y="4486275"/>
            <a:ext cx="609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7111F"/>
                </a:solidFill>
                <a:latin typeface="Arial"/>
                <a:ea typeface="Arial"/>
                <a:cs typeface="Arial"/>
              </a:rPr>
              <a:t>✓  Power integration, UART discovery, and fail-safe stop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59916E-E7E0-4430-8EEA-2DA54EF5A6D4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609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7111F"/>
                </a:solidFill>
                <a:latin typeface="Arial"/>
                <a:ea typeface="Arial"/>
                <a:cs typeface="Arial"/>
              </a:rPr>
              <a:t>✓  System testing, documentation, and IEEE report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8D00CD-19F6-4AA9-BBA6-4CF62AAA0E85}"/>
              </a:ext>
            </a:extLst>
          </p:cNvPr>
          <p:cNvSpPr>
            <a:spLocks noGrp="1"/>
          </p:cNvSpPr>
          <p:nvPr/>
        </p:nvSpPr>
        <p:spPr>
          <a:xfrm>
            <a:off x="7715250" y="1857375"/>
            <a:ext cx="3943350" cy="3857625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DD4DB5-0DB4-4306-BEF5-ABFDA82BA94A}"/>
              </a:ext>
            </a:extLst>
          </p:cNvPr>
          <p:cNvSpPr>
            <a:spLocks noGrp="1"/>
          </p:cNvSpPr>
          <p:nvPr/>
        </p:nvSpPr>
        <p:spPr>
          <a:xfrm>
            <a:off x="8001000" y="2143125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NEXT-STAGE MODULE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815BE8-EDBB-47F5-9029-7731D881A4FF}"/>
              </a:ext>
            </a:extLst>
          </p:cNvPr>
          <p:cNvSpPr>
            <a:spLocks noGrp="1"/>
          </p:cNvSpPr>
          <p:nvPr/>
        </p:nvSpPr>
        <p:spPr>
          <a:xfrm>
            <a:off x="8001000" y="2647950"/>
            <a:ext cx="3143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Face</a:t>
            </a:r>
          </a:p>
          <a:p>
            <a:pPr algn="l">
              <a:buNone/>
              <a:defRPr sz="360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recognition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14A625-6DE9-43AF-89DB-BD2624EAE000}"/>
              </a:ext>
            </a:extLst>
          </p:cNvPr>
          <p:cNvSpPr>
            <a:spLocks noGrp="1"/>
          </p:cNvSpPr>
          <p:nvPr/>
        </p:nvSpPr>
        <p:spPr>
          <a:xfrm>
            <a:off x="8001000" y="4095750"/>
            <a:ext cx="3143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Laptop-side InsightFace processing will consume the rover’s existing MJPEG stream.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65FD31-045A-43F1-9A6D-6E5E3F6AF8BB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7"/>
                </a:solidFill>
                <a:latin typeface="Arial"/>
                <a:ea typeface="Arial"/>
                <a:cs typeface="Arial"/>
              </a:rPr>
              <a:t>LEAD PRESENTER  ·  Anonna Rahman Spondon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0080F-CBE9-4333-A54F-D91E8CA49C51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50252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961E250-3F29-4005-A919-640A7BC94EC9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 PHASE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56A16F5-E7BA-4771-BC89-37D57D02947E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1125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45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499B adds an independent AI layer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FBD42E-C91F-4777-BD0C-4DA042050AB2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11252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0F6768-98C5-443D-BCC1-DB9E68E2013F}"/>
              </a:ext>
            </a:extLst>
          </p:cNvPr>
          <p:cNvSpPr>
            <a:spLocks noGrp="1"/>
          </p:cNvSpPr>
          <p:nvPr/>
        </p:nvSpPr>
        <p:spPr>
          <a:xfrm>
            <a:off x="1047750" y="3238500"/>
            <a:ext cx="10096500" cy="28575"/>
          </a:xfrm>
          <a:prstGeom prst="rect">
            <a:avLst/>
          </a:prstGeom>
          <a:solidFill>
            <a:srgbClr val="07111F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B7E72D-33CC-44B4-8881-C280DD8C796F}"/>
              </a:ext>
            </a:extLst>
          </p:cNvPr>
          <p:cNvSpPr>
            <a:spLocks noGrp="1"/>
          </p:cNvSpPr>
          <p:nvPr/>
        </p:nvSpPr>
        <p:spPr>
          <a:xfrm>
            <a:off x="1047750" y="31051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7111F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7958A7-F240-4FA5-A180-EBAB147B83F6}"/>
              </a:ext>
            </a:extLst>
          </p:cNvPr>
          <p:cNvSpPr>
            <a:spLocks noGrp="1"/>
          </p:cNvSpPr>
          <p:nvPr/>
        </p:nvSpPr>
        <p:spPr>
          <a:xfrm>
            <a:off x="1047750" y="242887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2A1CE4-A13A-4DE7-A71B-4A5C733EC8FA}"/>
              </a:ext>
            </a:extLst>
          </p:cNvPr>
          <p:cNvSpPr>
            <a:spLocks noGrp="1"/>
          </p:cNvSpPr>
          <p:nvPr/>
        </p:nvSpPr>
        <p:spPr>
          <a:xfrm>
            <a:off x="1047750" y="3714750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INGEST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ED7164-184F-4373-9BF2-031AC17180E7}"/>
              </a:ext>
            </a:extLst>
          </p:cNvPr>
          <p:cNvSpPr>
            <a:spLocks noGrp="1"/>
          </p:cNvSpPr>
          <p:nvPr/>
        </p:nvSpPr>
        <p:spPr>
          <a:xfrm>
            <a:off x="1047750" y="4171950"/>
            <a:ext cx="2857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Read the existing MJPEG stream on the GPU laptop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51C973-FE5B-4AFD-9A47-F69F0AA8DE70}"/>
              </a:ext>
            </a:extLst>
          </p:cNvPr>
          <p:cNvSpPr>
            <a:spLocks noGrp="1"/>
          </p:cNvSpPr>
          <p:nvPr/>
        </p:nvSpPr>
        <p:spPr>
          <a:xfrm>
            <a:off x="4762500" y="31051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7111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3FC724-835D-403B-9003-DC67BF87A037}"/>
              </a:ext>
            </a:extLst>
          </p:cNvPr>
          <p:cNvSpPr>
            <a:spLocks noGrp="1"/>
          </p:cNvSpPr>
          <p:nvPr/>
        </p:nvSpPr>
        <p:spPr>
          <a:xfrm>
            <a:off x="4762500" y="242887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968A5F-1B69-4F5B-B04D-33E4F070244D}"/>
              </a:ext>
            </a:extLst>
          </p:cNvPr>
          <p:cNvSpPr>
            <a:spLocks noGrp="1"/>
          </p:cNvSpPr>
          <p:nvPr/>
        </p:nvSpPr>
        <p:spPr>
          <a:xfrm>
            <a:off x="4762500" y="3714750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RECOGNIZE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2952B1-42F9-4DB5-A11D-32EA0430F6F5}"/>
              </a:ext>
            </a:extLst>
          </p:cNvPr>
          <p:cNvSpPr>
            <a:spLocks noGrp="1"/>
          </p:cNvSpPr>
          <p:nvPr/>
        </p:nvSpPr>
        <p:spPr>
          <a:xfrm>
            <a:off x="4762500" y="4171950"/>
            <a:ext cx="2857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Enroll known people and compare face embeddings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BD7D6BF-DB65-48E2-A152-229B6B932630}"/>
              </a:ext>
            </a:extLst>
          </p:cNvPr>
          <p:cNvSpPr>
            <a:spLocks noGrp="1"/>
          </p:cNvSpPr>
          <p:nvPr/>
        </p:nvSpPr>
        <p:spPr>
          <a:xfrm>
            <a:off x="8477250" y="31051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CEFF41-E688-4A77-BE6E-E5DC1B9D0A95}"/>
              </a:ext>
            </a:extLst>
          </p:cNvPr>
          <p:cNvSpPr>
            <a:spLocks noGrp="1"/>
          </p:cNvSpPr>
          <p:nvPr/>
        </p:nvSpPr>
        <p:spPr>
          <a:xfrm>
            <a:off x="8477250" y="242887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9A4AA6-C837-4441-AD43-AE01F72147D6}"/>
              </a:ext>
            </a:extLst>
          </p:cNvPr>
          <p:cNvSpPr>
            <a:spLocks noGrp="1"/>
          </p:cNvSpPr>
          <p:nvPr/>
        </p:nvSpPr>
        <p:spPr>
          <a:xfrm>
            <a:off x="8477250" y="3714750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E8EB8A-71A6-4594-B009-925DCC3CA410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2857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Log events; later add fall detection and caregiver alerts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AF1A85-10EF-428C-8EDC-A1DA77954A02}"/>
              </a:ext>
            </a:extLst>
          </p:cNvPr>
          <p:cNvSpPr>
            <a:spLocks noGrp="1"/>
          </p:cNvSpPr>
          <p:nvPr/>
        </p:nvSpPr>
        <p:spPr>
          <a:xfrm>
            <a:off x="533400" y="5476875"/>
            <a:ext cx="11125200" cy="523875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CFD00C-C388-454F-97F5-FB682EBC88BC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Key advantage: the AI layer can evolve independently because motion safety remains on the main ESP32.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FED519-AF3D-4545-B43A-74E7AC09CD88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7"/>
                </a:solidFill>
                <a:latin typeface="Arial"/>
                <a:ea typeface="Arial"/>
                <a:cs typeface="Arial"/>
              </a:rPr>
              <a:t>LEAD PRESENTER  ·  Anonna Rahman Spondon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231343-13E1-4EA4-B671-20A33CEF8237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51518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AB94FA-2DFA-4F5D-B9B7-A041B40FFD56}"/>
              </a:ext>
            </a:extLst>
          </p:cNvPr>
          <p:cNvSpPr>
            <a:spLocks noGrp="1"/>
          </p:cNvSpPr>
          <p:nvPr/>
        </p:nvSpPr>
        <p:spPr>
          <a:xfrm>
            <a:off x="533400" y="4572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NEURAL ROVER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E6D96C-2557-40CF-A8CC-2DB86918D869}"/>
              </a:ext>
            </a:extLst>
          </p:cNvPr>
          <p:cNvSpPr>
            <a:spLocks noGrp="1"/>
          </p:cNvSpPr>
          <p:nvPr/>
        </p:nvSpPr>
        <p:spPr>
          <a:xfrm>
            <a:off x="533400" y="1476375"/>
            <a:ext cx="9239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65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A complete rover platform—</a:t>
            </a:r>
          </a:p>
          <a:p>
            <a:pPr algn="l">
              <a:buNone/>
              <a:defRPr sz="4650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ready for its AI layer.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E2F642-1ABA-467B-8891-51F7C80314B6}"/>
              </a:ext>
            </a:extLst>
          </p:cNvPr>
          <p:cNvSpPr>
            <a:spLocks noGrp="1"/>
          </p:cNvSpPr>
          <p:nvPr/>
        </p:nvSpPr>
        <p:spPr>
          <a:xfrm>
            <a:off x="533400" y="3857625"/>
            <a:ext cx="111252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231F81-53CD-42C5-9B51-7B2E5DE858E4}"/>
              </a:ext>
            </a:extLst>
          </p:cNvPr>
          <p:cNvSpPr>
            <a:spLocks noGrp="1"/>
          </p:cNvSpPr>
          <p:nvPr/>
        </p:nvSpPr>
        <p:spPr>
          <a:xfrm>
            <a:off x="533400" y="433387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Demo path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4A7C42-3597-4EFF-9535-578BF9BA7841}"/>
              </a:ext>
            </a:extLst>
          </p:cNvPr>
          <p:cNvSpPr>
            <a:spLocks noGrp="1"/>
          </p:cNvSpPr>
          <p:nvPr/>
        </p:nvSpPr>
        <p:spPr>
          <a:xfrm>
            <a:off x="533400" y="47625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75" b="1">
                <a:solidFill>
                  <a:srgbClr val="07111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7111F"/>
                </a:solidFill>
                <a:latin typeface="Arial"/>
                <a:ea typeface="Arial"/>
                <a:cs typeface="Arial"/>
              </a:rPr>
              <a:t>Connect  →  Drive  →  Stream  →  Pan / Tilt  →  Fail-safe stop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4800F0-BE49-49AF-85AB-C948DBCA0DF9}"/>
              </a:ext>
            </a:extLst>
          </p:cNvPr>
          <p:cNvSpPr>
            <a:spLocks noGrp="1"/>
          </p:cNvSpPr>
          <p:nvPr/>
        </p:nvSpPr>
        <p:spPr>
          <a:xfrm>
            <a:off x="533400" y="5810250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26277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61F7D1-624C-408B-8009-7604FD7D2DB0}"/>
              </a:ext>
            </a:extLst>
          </p:cNvPr>
          <p:cNvSpPr>
            <a:spLocks noGrp="1"/>
          </p:cNvSpPr>
          <p:nvPr/>
        </p:nvSpPr>
        <p:spPr>
          <a:xfrm>
            <a:off x="7858125" y="5953125"/>
            <a:ext cx="3800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275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CSE499A · North South University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DCE3F7-9240-447E-9B4E-7613AD8D5533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7"/>
                </a:solidFill>
                <a:latin typeface="Arial"/>
                <a:ea typeface="Arial"/>
                <a:cs typeface="Arial"/>
              </a:rPr>
              <a:t>LEAD PRESENTER  ·  Anonna Rahman Spondon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E37430-61E8-4618-B844-0D7C08E28FFD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262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194920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1521</Words>
  <Application>Microsoft Office PowerPoint</Application>
  <DocSecurity>0</DocSecurity>
  <PresentationFormat>Widescreen</PresentationFormat>
  <Paragraphs>220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sahel ahmed</cp:lastModifiedBy>
  <cp:revision>1</cp:revision>
  <dcterms:created xsi:type="dcterms:W3CDTF">2026-08-15T17:30:08Z</dcterms:created>
  <dcterms:modified xsi:type="dcterms:W3CDTF">2026-08-15T17:34:26Z</dcterms:modified>
</cp:coreProperties>
</file>