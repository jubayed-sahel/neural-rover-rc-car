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hunk Five" charset="1" panose="00000500000000000000"/>
      <p:regular r:id="rId15"/>
    </p:embeddedFont>
    <p:embeddedFont>
      <p:font typeface="Hammersmith One" charset="1" panose="02010703030501060504"/>
      <p:regular r:id="rId16"/>
    </p:embeddedFont>
    <p:embeddedFont>
      <p:font typeface="Arimo Bold" charset="1" panose="020B07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6A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92809" y="366524"/>
            <a:ext cx="5278053" cy="3806795"/>
          </a:xfrm>
          <a:custGeom>
            <a:avLst/>
            <a:gdLst/>
            <a:ahLst/>
            <a:cxnLst/>
            <a:rect r="r" b="b" t="t" l="l"/>
            <a:pathLst>
              <a:path h="3806795" w="5278053">
                <a:moveTo>
                  <a:pt x="0" y="0"/>
                </a:moveTo>
                <a:lnTo>
                  <a:pt x="5278053" y="0"/>
                </a:lnTo>
                <a:lnTo>
                  <a:pt x="5278053" y="3806795"/>
                </a:lnTo>
                <a:lnTo>
                  <a:pt x="0" y="3806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96308" y="5233959"/>
            <a:ext cx="5574554" cy="4222724"/>
          </a:xfrm>
          <a:custGeom>
            <a:avLst/>
            <a:gdLst/>
            <a:ahLst/>
            <a:cxnLst/>
            <a:rect r="r" b="b" t="t" l="l"/>
            <a:pathLst>
              <a:path h="4222724" w="5574554">
                <a:moveTo>
                  <a:pt x="0" y="0"/>
                </a:moveTo>
                <a:lnTo>
                  <a:pt x="5574554" y="0"/>
                </a:lnTo>
                <a:lnTo>
                  <a:pt x="5574554" y="4222725"/>
                </a:lnTo>
                <a:lnTo>
                  <a:pt x="0" y="4222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66800"/>
            <a:ext cx="10493740" cy="3332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101"/>
              </a:lnSpc>
            </a:pPr>
            <a:r>
              <a:rPr lang="en-US" sz="8618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Neural Rover —</a:t>
            </a:r>
          </a:p>
          <a:p>
            <a:pPr algn="just" marL="0" indent="0" lvl="0">
              <a:lnSpc>
                <a:spcPts val="8101"/>
              </a:lnSpc>
            </a:pPr>
            <a:r>
              <a:rPr lang="en-US" sz="8618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AI-Powered Elderly Monitoring RC Car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6198965">
            <a:off x="15053106" y="5674320"/>
            <a:ext cx="4036960" cy="70647"/>
          </a:xfrm>
          <a:custGeom>
            <a:avLst/>
            <a:gdLst/>
            <a:ahLst/>
            <a:cxnLst/>
            <a:rect r="r" b="b" t="t" l="l"/>
            <a:pathLst>
              <a:path h="70647" w="4036960">
                <a:moveTo>
                  <a:pt x="0" y="0"/>
                </a:moveTo>
                <a:lnTo>
                  <a:pt x="4036960" y="0"/>
                </a:lnTo>
                <a:lnTo>
                  <a:pt x="4036960" y="70647"/>
                </a:lnTo>
                <a:lnTo>
                  <a:pt x="0" y="70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167913"/>
            <a:ext cx="8462762" cy="262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6"/>
              </a:lnSpc>
            </a:pPr>
            <a:r>
              <a:rPr lang="en-US" sz="2946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Name : Jubayed Ahmed Sahel (2221173642)</a:t>
            </a:r>
          </a:p>
          <a:p>
            <a:pPr algn="just">
              <a:lnSpc>
                <a:spcPts val="3476"/>
              </a:lnSpc>
            </a:pPr>
          </a:p>
          <a:p>
            <a:pPr algn="just">
              <a:lnSpc>
                <a:spcPts val="3476"/>
              </a:lnSpc>
            </a:pPr>
            <a:r>
              <a:rPr lang="en-US" sz="2946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Name : Fahad Hossain Shourav (2233219642)</a:t>
            </a:r>
          </a:p>
          <a:p>
            <a:pPr algn="just">
              <a:lnSpc>
                <a:spcPts val="3476"/>
              </a:lnSpc>
            </a:pPr>
          </a:p>
          <a:p>
            <a:pPr algn="just">
              <a:lnSpc>
                <a:spcPts val="3476"/>
              </a:lnSpc>
            </a:pPr>
            <a:r>
              <a:rPr lang="en-US" sz="2946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Name : Pujon Chakraborty (23125616642)</a:t>
            </a:r>
          </a:p>
          <a:p>
            <a:pPr algn="just" marL="0" indent="0" lvl="0">
              <a:lnSpc>
                <a:spcPts val="347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6A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25730"/>
            <a:ext cx="18288000" cy="10035540"/>
          </a:xfrm>
          <a:custGeom>
            <a:avLst/>
            <a:gdLst/>
            <a:ahLst/>
            <a:cxnLst/>
            <a:rect r="r" b="b" t="t" l="l"/>
            <a:pathLst>
              <a:path h="10035540" w="18288000">
                <a:moveTo>
                  <a:pt x="0" y="0"/>
                </a:moveTo>
                <a:lnTo>
                  <a:pt x="18288000" y="0"/>
                </a:lnTo>
                <a:lnTo>
                  <a:pt x="18288000" y="10035540"/>
                </a:lnTo>
                <a:lnTo>
                  <a:pt x="0" y="10035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" t="0" r="-1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6A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56970">
            <a:off x="9642707" y="4257660"/>
            <a:ext cx="7632258" cy="4999129"/>
          </a:xfrm>
          <a:custGeom>
            <a:avLst/>
            <a:gdLst/>
            <a:ahLst/>
            <a:cxnLst/>
            <a:rect r="r" b="b" t="t" l="l"/>
            <a:pathLst>
              <a:path h="4999129" w="7632258">
                <a:moveTo>
                  <a:pt x="0" y="0"/>
                </a:moveTo>
                <a:lnTo>
                  <a:pt x="7632258" y="0"/>
                </a:lnTo>
                <a:lnTo>
                  <a:pt x="7632258" y="4999129"/>
                </a:lnTo>
                <a:lnTo>
                  <a:pt x="0" y="4999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34738" y="3271699"/>
            <a:ext cx="3794509" cy="181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Component Gathering</a:t>
            </a:r>
          </a:p>
          <a:p>
            <a:pPr algn="just" marL="0" indent="0" lvl="0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· Finalize parts list</a:t>
            </a:r>
          </a:p>
          <a:p>
            <a:pPr algn="just" marL="0" indent="0" lvl="0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· Draw circuit diagram</a:t>
            </a:r>
          </a:p>
          <a:p>
            <a:pPr algn="just" marL="0" indent="0" lvl="0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· Plan wiring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1802" y="2622862"/>
            <a:ext cx="3911551" cy="55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3"/>
              </a:lnSpc>
              <a:spcBef>
                <a:spcPct val="0"/>
              </a:spcBef>
            </a:pPr>
            <a:r>
              <a:rPr lang="en-US" sz="3048" strike="noStrike" u="none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WEEK 1 (JUL 9)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60224" y="6542412"/>
            <a:ext cx="4921662" cy="318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Chassis + Motor Wiring</a:t>
            </a:r>
          </a:p>
          <a:p>
            <a:pPr algn="just" marL="0" indent="0" lvl="0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· Assemble chassis</a:t>
            </a:r>
          </a:p>
          <a:p>
            <a:pPr algn="just" marL="0" indent="0" lvl="0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· Mount motors and wheels</a:t>
            </a:r>
          </a:p>
          <a:p>
            <a:pPr algn="just" marL="0" indent="0" lvl="0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· Wire motor driver to ESP32</a:t>
            </a:r>
          </a:p>
          <a:p>
            <a:pPr algn="just" marL="0" indent="0" lvl="0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· Test basic movement</a:t>
            </a:r>
          </a:p>
          <a:p>
            <a:pPr algn="just" marL="0" indent="0" lvl="0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Deliverable: Car chassis built, motors spinning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86296" y="5803092"/>
            <a:ext cx="3794509" cy="56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78"/>
              </a:lnSpc>
              <a:spcBef>
                <a:spcPct val="0"/>
              </a:spcBef>
            </a:pPr>
            <a:r>
              <a:rPr lang="en-US" sz="3060" strike="noStrike" u="none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WEEK 2 (JUL 16)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31992" y="1260995"/>
            <a:ext cx="10714129" cy="99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176"/>
              </a:lnSpc>
            </a:pPr>
            <a:r>
              <a:rPr lang="en-US" sz="7099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Weeks 1–2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6A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4301220"/>
            <a:ext cx="7147686" cy="4127789"/>
          </a:xfrm>
          <a:custGeom>
            <a:avLst/>
            <a:gdLst/>
            <a:ahLst/>
            <a:cxnLst/>
            <a:rect r="r" b="b" t="t" l="l"/>
            <a:pathLst>
              <a:path h="4127789" w="7147686">
                <a:moveTo>
                  <a:pt x="0" y="0"/>
                </a:moveTo>
                <a:lnTo>
                  <a:pt x="7147686" y="0"/>
                </a:lnTo>
                <a:lnTo>
                  <a:pt x="7147686" y="4127789"/>
                </a:lnTo>
                <a:lnTo>
                  <a:pt x="0" y="4127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69493" y="2964067"/>
            <a:ext cx="4494157" cy="401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4"/>
              </a:lnSpc>
            </a:pPr>
            <a:r>
              <a:rPr lang="en-US" sz="226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📱 Implementation Steps</a:t>
            </a:r>
          </a:p>
          <a:p>
            <a:pPr algn="l" marL="0" indent="0" lvl="0">
              <a:lnSpc>
                <a:spcPts val="2894"/>
              </a:lnSpc>
            </a:pPr>
            <a:r>
              <a:rPr lang="en-US" sz="206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Connect phone app to ESP32 via Bluetooth / WiFi</a:t>
            </a:r>
          </a:p>
          <a:p>
            <a:pPr algn="l" marL="0" indent="0" lvl="0">
              <a:lnSpc>
                <a:spcPts val="2894"/>
              </a:lnSpc>
            </a:pPr>
            <a:r>
              <a:rPr lang="en-US" sz="206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Implement forward / reverse / steer controls</a:t>
            </a:r>
          </a:p>
          <a:p>
            <a:pPr algn="l" marL="0" indent="0" lvl="0">
              <a:lnSpc>
                <a:spcPts val="2894"/>
              </a:lnSpc>
            </a:pPr>
            <a:r>
              <a:rPr lang="en-US" sz="206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Tune motor speed and turning radius</a:t>
            </a:r>
          </a:p>
          <a:p>
            <a:pPr algn="l" marL="0" indent="0" lvl="0">
              <a:lnSpc>
                <a:spcPts val="2894"/>
              </a:lnSpc>
            </a:pPr>
            <a:r>
              <a:rPr lang="en-US" sz="206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Test control range and responsiveness</a:t>
            </a:r>
          </a:p>
          <a:p>
            <a:pPr algn="l" marL="0" indent="0" lvl="0">
              <a:lnSpc>
                <a:spcPts val="2894"/>
              </a:lnSpc>
            </a:pPr>
            <a:r>
              <a:rPr lang="en-US" sz="206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✅ Deliverable: RC car drives via phone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9493" y="1032518"/>
            <a:ext cx="13549014" cy="74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11"/>
              </a:lnSpc>
            </a:pPr>
            <a:r>
              <a:rPr lang="en-US" sz="530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Week 3 (Jul 23): Phone Control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69493" y="7462969"/>
            <a:ext cx="3794509" cy="179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4"/>
              </a:lnSpc>
              <a:spcBef>
                <a:spcPct val="0"/>
              </a:spcBef>
            </a:pPr>
            <a:r>
              <a:rPr lang="en-US" sz="206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🔧 Components</a:t>
            </a:r>
          </a:p>
          <a:p>
            <a:pPr algn="l" marL="0" indent="0" lvl="0">
              <a:lnSpc>
                <a:spcPts val="2894"/>
              </a:lnSpc>
              <a:spcBef>
                <a:spcPct val="0"/>
              </a:spcBef>
            </a:pPr>
            <a:r>
              <a:rPr lang="en-US" sz="206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ESP32 Dev Board</a:t>
            </a:r>
          </a:p>
          <a:p>
            <a:pPr algn="l" marL="0" indent="0" lvl="0">
              <a:lnSpc>
                <a:spcPts val="2894"/>
              </a:lnSpc>
              <a:spcBef>
                <a:spcPct val="0"/>
              </a:spcBef>
            </a:pPr>
            <a:r>
              <a:rPr lang="en-US" sz="206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L298N Motor Driver</a:t>
            </a:r>
          </a:p>
          <a:p>
            <a:pPr algn="l" marL="0" indent="0" lvl="0">
              <a:lnSpc>
                <a:spcPts val="2894"/>
              </a:lnSpc>
              <a:spcBef>
                <a:spcPct val="0"/>
              </a:spcBef>
            </a:pPr>
            <a:r>
              <a:rPr lang="en-US" sz="206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5V Power Bank</a:t>
            </a:r>
          </a:p>
          <a:p>
            <a:pPr algn="l" marL="0" indent="0" lvl="0">
              <a:lnSpc>
                <a:spcPts val="2894"/>
              </a:lnSpc>
              <a:spcBef>
                <a:spcPct val="0"/>
              </a:spcBef>
            </a:pPr>
            <a:r>
              <a:rPr lang="en-US" sz="206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Phone App (BT / WiFi)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6A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59490" y="4054431"/>
            <a:ext cx="7004790" cy="5387674"/>
          </a:xfrm>
          <a:custGeom>
            <a:avLst/>
            <a:gdLst/>
            <a:ahLst/>
            <a:cxnLst/>
            <a:rect r="r" b="b" t="t" l="l"/>
            <a:pathLst>
              <a:path h="5387674" w="7004790">
                <a:moveTo>
                  <a:pt x="0" y="0"/>
                </a:moveTo>
                <a:lnTo>
                  <a:pt x="7004790" y="0"/>
                </a:lnTo>
                <a:lnTo>
                  <a:pt x="7004790" y="5387673"/>
                </a:lnTo>
                <a:lnTo>
                  <a:pt x="0" y="5387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7" r="0" b="-78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66636" y="2672243"/>
            <a:ext cx="4494157" cy="361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8"/>
              </a:lnSpc>
            </a:pPr>
            <a:r>
              <a:rPr lang="en-US" sz="207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Flash CameraWebServer firmware on ESP32-CAM</a:t>
            </a:r>
          </a:p>
          <a:p>
            <a:pPr algn="l" marL="0" indent="0" lvl="0">
              <a:lnSpc>
                <a:spcPts val="2908"/>
              </a:lnSpc>
            </a:pPr>
            <a:r>
              <a:rPr lang="en-US" sz="207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Connect ESP32-CAM to WiFi network</a:t>
            </a:r>
          </a:p>
          <a:p>
            <a:pPr algn="l" marL="0" indent="0" lvl="0">
              <a:lnSpc>
                <a:spcPts val="2908"/>
              </a:lnSpc>
            </a:pPr>
            <a:r>
              <a:rPr lang="en-US" sz="207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Obtain local IP address from serial monitor</a:t>
            </a:r>
          </a:p>
          <a:p>
            <a:pPr algn="l" marL="0" indent="0" lvl="0">
              <a:lnSpc>
                <a:spcPts val="2908"/>
              </a:lnSpc>
            </a:pPr>
            <a:r>
              <a:rPr lang="en-US" sz="207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Access live MJPEG video stream on laptop browser</a:t>
            </a:r>
          </a:p>
          <a:p>
            <a:pPr algn="l" marL="0" indent="0" lvl="0">
              <a:lnSpc>
                <a:spcPts val="2908"/>
              </a:lnSpc>
            </a:pPr>
            <a:r>
              <a:rPr lang="en-US" sz="207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Test stream stability and frame rate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4223" y="1085850"/>
            <a:ext cx="15575077" cy="720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3"/>
              </a:lnSpc>
            </a:pPr>
            <a:r>
              <a:rPr lang="en-US" sz="5141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Week 4 (Jul 30): ESP32-CAM + Video Streaming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6636" y="6759577"/>
            <a:ext cx="3794509" cy="222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8"/>
              </a:lnSpc>
              <a:spcBef>
                <a:spcPct val="0"/>
              </a:spcBef>
            </a:pPr>
            <a:r>
              <a:rPr lang="en-US" sz="217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✓ Deliverable: Live video stream visible on laptop browser via local IP</a:t>
            </a:r>
          </a:p>
          <a:p>
            <a:pPr algn="l" marL="0" indent="0" lvl="0">
              <a:lnSpc>
                <a:spcPts val="2908"/>
              </a:lnSpc>
              <a:spcBef>
                <a:spcPct val="0"/>
              </a:spcBef>
            </a:pPr>
            <a:r>
              <a:rPr lang="en-US" sz="2077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Components: ESP32-CAM, USB-to-TTL Programmer, WiFi Router, Laptop Browser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6A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63628" y="3233882"/>
            <a:ext cx="4498994" cy="5777200"/>
          </a:xfrm>
          <a:custGeom>
            <a:avLst/>
            <a:gdLst/>
            <a:ahLst/>
            <a:cxnLst/>
            <a:rect r="r" b="b" t="t" l="l"/>
            <a:pathLst>
              <a:path h="5777200" w="4498994">
                <a:moveTo>
                  <a:pt x="0" y="0"/>
                </a:moveTo>
                <a:lnTo>
                  <a:pt x="4498994" y="0"/>
                </a:lnTo>
                <a:lnTo>
                  <a:pt x="4498994" y="5777199"/>
                </a:lnTo>
                <a:lnTo>
                  <a:pt x="0" y="5777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69493" y="3543334"/>
            <a:ext cx="5056664" cy="416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26"/>
              </a:lnSpc>
            </a:pPr>
            <a:r>
              <a:rPr lang="en-US" sz="2375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Build ~80cm rigid stalk from PVC pipe</a:t>
            </a:r>
          </a:p>
          <a:p>
            <a:pPr algn="l" marL="0" indent="0" lvl="0">
              <a:lnSpc>
                <a:spcPts val="3326"/>
              </a:lnSpc>
            </a:pPr>
            <a:r>
              <a:rPr lang="en-US" sz="2375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Mount pan-tilt servos at top of stalk</a:t>
            </a:r>
          </a:p>
          <a:p>
            <a:pPr algn="l" marL="0" indent="0" lvl="0">
              <a:lnSpc>
                <a:spcPts val="3326"/>
              </a:lnSpc>
            </a:pPr>
            <a:r>
              <a:rPr lang="en-US" sz="2375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Attach ESP32-CAM to pan-tilt assembly</a:t>
            </a:r>
          </a:p>
          <a:p>
            <a:pPr algn="l" marL="0" indent="0" lvl="0">
              <a:lnSpc>
                <a:spcPts val="3326"/>
              </a:lnSpc>
            </a:pPr>
            <a:r>
              <a:rPr lang="en-US" sz="2375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Control tilt angle via PWM to aim camera at face level</a:t>
            </a:r>
          </a:p>
          <a:p>
            <a:pPr algn="l" marL="0" indent="0" lvl="0">
              <a:lnSpc>
                <a:spcPts val="3326"/>
              </a:lnSpc>
            </a:pPr>
            <a:r>
              <a:rPr lang="en-US" sz="2375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Tune servo angles for optimal face-level coverage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56303" y="1076325"/>
            <a:ext cx="13549014" cy="7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14"/>
              </a:lnSpc>
            </a:pPr>
            <a:r>
              <a:rPr lang="en-US" sz="5189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Week 5 (Aug 6): Pan-Tilt + Camera Mount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28102" y="4167211"/>
            <a:ext cx="4531198" cy="177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7"/>
              </a:lnSpc>
              <a:spcBef>
                <a:spcPct val="0"/>
              </a:spcBef>
            </a:pPr>
            <a:r>
              <a:rPr lang="en-US" sz="2641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✔ Deliverable:</a:t>
            </a:r>
          </a:p>
          <a:p>
            <a:pPr algn="l" marL="0" indent="0" lvl="0">
              <a:lnSpc>
                <a:spcPts val="3530"/>
              </a:lnSpc>
              <a:spcBef>
                <a:spcPct val="0"/>
              </a:spcBef>
            </a:pPr>
            <a:r>
              <a:rPr lang="en-US" sz="2521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Camera mounted at ~80cm height, pan-tilt adjustable via PWM signal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6A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88511" y="3881152"/>
            <a:ext cx="6768386" cy="3367272"/>
          </a:xfrm>
          <a:custGeom>
            <a:avLst/>
            <a:gdLst/>
            <a:ahLst/>
            <a:cxnLst/>
            <a:rect r="r" b="b" t="t" l="l"/>
            <a:pathLst>
              <a:path h="3367272" w="6768386">
                <a:moveTo>
                  <a:pt x="0" y="0"/>
                </a:moveTo>
                <a:lnTo>
                  <a:pt x="6768386" y="0"/>
                </a:lnTo>
                <a:lnTo>
                  <a:pt x="6768386" y="3367272"/>
                </a:lnTo>
                <a:lnTo>
                  <a:pt x="0" y="336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91952" y="3174314"/>
            <a:ext cx="3879796" cy="489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15"/>
              </a:lnSpc>
              <a:spcBef>
                <a:spcPct val="0"/>
              </a:spcBef>
            </a:pPr>
            <a:r>
              <a:rPr lang="en-US" sz="2725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Setup &amp; Publisher</a:t>
            </a:r>
          </a:p>
          <a:p>
            <a:pPr algn="just" marL="0" indent="0" lvl="0">
              <a:lnSpc>
                <a:spcPts val="3508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Set up MQTT broker (HiveMQ Cloud free tier)</a:t>
            </a:r>
          </a:p>
          <a:p>
            <a:pPr algn="just" marL="0" indent="0" lvl="0">
              <a:lnSpc>
                <a:spcPts val="320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Python publisher sends alert message when detection occurs</a:t>
            </a:r>
          </a:p>
          <a:p>
            <a:pPr algn="just" marL="0" indent="0" lvl="0">
              <a:lnSpc>
                <a:spcPts val="320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0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• ESP32 subscriber listens for incoming alerts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073661" y="3259736"/>
            <a:ext cx="3783235" cy="322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70"/>
              </a:lnSpc>
              <a:spcBef>
                <a:spcPct val="0"/>
              </a:spcBef>
            </a:pPr>
            <a:r>
              <a:rPr lang="en-US" sz="255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Deliverable:</a:t>
            </a:r>
          </a:p>
          <a:p>
            <a:pPr algn="just" marL="0" indent="0" lvl="0">
              <a:lnSpc>
                <a:spcPts val="357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22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✓ End-to-end MQTT alert system working</a:t>
            </a:r>
          </a:p>
          <a:p>
            <a:pPr algn="just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22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✓ Real-time alert flow from detection to hardware response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6663" y="988386"/>
            <a:ext cx="12727652" cy="70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0"/>
              </a:lnSpc>
            </a:pPr>
            <a:r>
              <a:rPr lang="en-US" sz="500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Week 6 (Aug 13): MQTT + Alert System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6A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96703" y="4212912"/>
            <a:ext cx="9745513" cy="4763120"/>
          </a:xfrm>
          <a:custGeom>
            <a:avLst/>
            <a:gdLst/>
            <a:ahLst/>
            <a:cxnLst/>
            <a:rect r="r" b="b" t="t" l="l"/>
            <a:pathLst>
              <a:path h="4763120" w="9745513">
                <a:moveTo>
                  <a:pt x="0" y="0"/>
                </a:moveTo>
                <a:lnTo>
                  <a:pt x="9745513" y="0"/>
                </a:lnTo>
                <a:lnTo>
                  <a:pt x="9745513" y="4763120"/>
                </a:lnTo>
                <a:lnTo>
                  <a:pt x="0" y="4763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1397" y="3207324"/>
            <a:ext cx="3794509" cy="2263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02"/>
              </a:lnSpc>
              <a:spcBef>
                <a:spcPct val="0"/>
              </a:spcBef>
            </a:pPr>
            <a:r>
              <a:rPr lang="en-US" sz="2144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Rover drives, streams, and receives alerts simultaneously. Conduct 1-hour stress test across full system. Debug and fix integration issues.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2876" y="2629749"/>
            <a:ext cx="3911551" cy="39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7"/>
              </a:lnSpc>
              <a:spcBef>
                <a:spcPct val="0"/>
              </a:spcBef>
            </a:pPr>
            <a:r>
              <a:rPr lang="en-US" sz="2159" strike="noStrike" u="none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WEEK 7 (AUG 20)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2876" y="7226349"/>
            <a:ext cx="4921662" cy="1884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02"/>
              </a:lnSpc>
              <a:spcBef>
                <a:spcPct val="0"/>
              </a:spcBef>
            </a:pPr>
            <a:r>
              <a:rPr lang="en-US" sz="2144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Live demo of complete hardware system. Submit CSE499A project report.</a:t>
            </a:r>
          </a:p>
          <a:p>
            <a:pPr algn="just" marL="0" indent="0" lvl="0">
              <a:lnSpc>
                <a:spcPts val="3002"/>
              </a:lnSpc>
              <a:spcBef>
                <a:spcPct val="0"/>
              </a:spcBef>
            </a:pPr>
            <a:r>
              <a:rPr lang="en-US" sz="2144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Deliverable: Working hardware, live demo, and report submitted.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5791" y="6631740"/>
            <a:ext cx="3794509" cy="39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7"/>
              </a:lnSpc>
              <a:spcBef>
                <a:spcPct val="0"/>
              </a:spcBef>
            </a:pPr>
            <a:r>
              <a:rPr lang="en-US" sz="2159" strike="noStrike" u="none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WEEK 8 (AUG 27)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45171" y="761246"/>
            <a:ext cx="10714129" cy="179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176"/>
              </a:lnSpc>
            </a:pPr>
            <a:r>
              <a:rPr lang="en-US" sz="12846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Weeks 7–8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6A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4816" y="3028721"/>
            <a:ext cx="5009654" cy="6328435"/>
          </a:xfrm>
          <a:custGeom>
            <a:avLst/>
            <a:gdLst/>
            <a:ahLst/>
            <a:cxnLst/>
            <a:rect r="r" b="b" t="t" l="l"/>
            <a:pathLst>
              <a:path h="6328435" w="5009654">
                <a:moveTo>
                  <a:pt x="0" y="0"/>
                </a:moveTo>
                <a:lnTo>
                  <a:pt x="5009654" y="0"/>
                </a:lnTo>
                <a:lnTo>
                  <a:pt x="5009654" y="6328435"/>
                </a:lnTo>
                <a:lnTo>
                  <a:pt x="0" y="6328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34828" y="718191"/>
            <a:ext cx="13218344" cy="196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62"/>
              </a:lnSpc>
            </a:pPr>
            <a:r>
              <a:rPr lang="en-US" sz="7887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CSE499B — Deep Learning Phase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01709" y="3607793"/>
            <a:ext cx="10292598" cy="4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2009">
                <a:solidFill>
                  <a:srgbClr val="F2F1EB"/>
                </a:solidFill>
                <a:latin typeface="Arimo Bold"/>
                <a:ea typeface="Arimo Bold"/>
                <a:cs typeface="Arimo Bold"/>
                <a:sym typeface="Arimo Bold"/>
              </a:rPr>
              <a:t>System Integration</a:t>
            </a:r>
          </a:p>
          <a:p>
            <a:pPr algn="l" marL="433788" indent="-216894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F2F1EB"/>
                </a:solidFill>
                <a:latin typeface="Arimo Bold"/>
                <a:ea typeface="Arimo Bold"/>
                <a:cs typeface="Arimo Bold"/>
                <a:sym typeface="Arimo Bold"/>
              </a:rPr>
              <a:t>Seamlessly integrate all modules into a comprehensive elderly monitoring system.</a:t>
            </a:r>
          </a:p>
          <a:p>
            <a:pPr algn="l" marL="0" indent="0" lvl="0">
              <a:lnSpc>
                <a:spcPts val="2812"/>
              </a:lnSpc>
            </a:pPr>
            <a:r>
              <a:rPr lang="en-US" b="true" sz="2009">
                <a:solidFill>
                  <a:srgbClr val="F2F1EB"/>
                </a:solidFill>
                <a:latin typeface="Arimo Bold"/>
                <a:ea typeface="Arimo Bold"/>
                <a:cs typeface="Arimo Bold"/>
                <a:sym typeface="Arimo Bold"/>
              </a:rPr>
              <a:t>InsightFace</a:t>
            </a:r>
          </a:p>
          <a:p>
            <a:pPr algn="l" marL="433788" indent="-216894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F2F1EB"/>
                </a:solidFill>
                <a:latin typeface="Arimo Bold"/>
                <a:ea typeface="Arimo Bold"/>
                <a:cs typeface="Arimo Bold"/>
                <a:sym typeface="Arimo Bold"/>
              </a:rPr>
              <a:t>Implement face recognition technology: Enroll residents and detect &amp; match faces in real-time from the rover stream.</a:t>
            </a:r>
          </a:p>
          <a:p>
            <a:pPr algn="l" marL="0" indent="0" lvl="0">
              <a:lnSpc>
                <a:spcPts val="2812"/>
              </a:lnSpc>
            </a:pPr>
            <a:r>
              <a:rPr lang="en-US" b="true" sz="2009">
                <a:solidFill>
                  <a:srgbClr val="F2F1EB"/>
                </a:solidFill>
                <a:latin typeface="Arimo Bold"/>
                <a:ea typeface="Arimo Bold"/>
                <a:cs typeface="Arimo Bold"/>
                <a:sym typeface="Arimo Bold"/>
              </a:rPr>
              <a:t>YOLO-Pose</a:t>
            </a:r>
          </a:p>
          <a:p>
            <a:pPr algn="l" marL="433788" indent="-216894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F2F1EB"/>
                </a:solidFill>
                <a:latin typeface="Arimo Bold"/>
                <a:ea typeface="Arimo Bold"/>
                <a:cs typeface="Arimo Bold"/>
                <a:sym typeface="Arimo Bold"/>
              </a:rPr>
              <a:t>Utilize fall and posture detection: Receive alerts if a resident is found on the floor.</a:t>
            </a:r>
          </a:p>
          <a:p>
            <a:pPr algn="l" marL="0" indent="0" lvl="0">
              <a:lnSpc>
                <a:spcPts val="2812"/>
              </a:lnSpc>
            </a:pPr>
            <a:r>
              <a:rPr lang="en-US" b="true" sz="2009">
                <a:solidFill>
                  <a:srgbClr val="F2F1EB"/>
                </a:solidFill>
                <a:latin typeface="Arimo Bold"/>
                <a:ea typeface="Arimo Bold"/>
                <a:cs typeface="Arimo Bold"/>
                <a:sym typeface="Arimo Bold"/>
              </a:rPr>
              <a:t>Telegram Chatbot</a:t>
            </a:r>
          </a:p>
          <a:p>
            <a:pPr algn="l" marL="455477" indent="-227739" lvl="1">
              <a:lnSpc>
                <a:spcPts val="2953"/>
              </a:lnSpc>
              <a:buFont typeface="Arial"/>
              <a:buChar char="•"/>
            </a:pPr>
            <a:r>
              <a:rPr lang="en-US" b="true" sz="2109">
                <a:solidFill>
                  <a:srgbClr val="F2F1EB"/>
                </a:solidFill>
                <a:latin typeface="Arimo Bold"/>
                <a:ea typeface="Arimo Bold"/>
                <a:cs typeface="Arimo Bold"/>
                <a:sym typeface="Arimo Bold"/>
              </a:rPr>
              <a:t>Empower caregivers with a chatbot: Ask an LLM, “Who hasn’t been seen in the last 2 hours?”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DAHO0qWDZRg</dc:identifier>
  <dcterms:modified xsi:type="dcterms:W3CDTF">2011-08-01T06:04:30Z</dcterms:modified>
  <cp:revision>1</cp:revision>
  <dc:title>Copy of Neural Rover Presentation Outline</dc:title>
</cp:coreProperties>
</file>